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5E1FD-1552-8DFA-EB69-D3E969B9F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A9BAC-044D-03E9-3BA7-C59E93D09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A19D1-1CCA-BFDF-83EB-3FD1EAC43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8228C-6D58-CC77-C9B3-7122854D3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BD452-7CB7-7BCD-8D21-191E7D1BE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3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5A9D0-B895-2CBF-C10D-FDB1AF8CC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44B0-8E81-A524-C942-EBEA0FAC3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796A8-718F-C5D7-2262-7D0AC92A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6E124-9649-97C6-165E-4330D293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BE300-7438-D785-19F0-E4673759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85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6B16-BE30-B04B-0039-5DB30C89C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F9C06-4D7C-0577-929F-8C5A0A38E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28DB7-D5DC-905C-DDD4-4D71B2129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6E726-AEE1-1DB6-FFCA-06C02626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E7CFA-3465-29FB-BBF2-8FD56CD0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6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EBDAB-4AED-7FFF-EC53-CF83F668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11C5-B750-BF82-29E4-F13DE14CA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8963D-89BE-006B-CFBC-9035D1D85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6F4C8-F507-7184-DC0A-7D7AC0D1D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4287-150E-780E-8AA4-549BBF0C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C23C9-EFA1-D9C7-1E71-3D33D4F8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5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0B27B-9FF6-7AD6-AB26-32E80D6CE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B3074-0279-95A4-89BE-A3FA7EF9D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C9C90-8198-2704-73D3-2A24D52A6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C8CD3-84CA-056C-2A16-65F069022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F004CE-7889-9CFC-4ABE-FCC1C0110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BA1AE-604C-9565-8E7F-426276D5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9F86C4-BE9C-9B44-6D0B-538A32033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2473B-7927-95A0-58A0-3533B646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BF1D-CAC5-3440-B6B3-28663414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AD93A-8722-AF0B-9D5A-D53402A2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0BEA0-11F1-013D-B71F-AFAAB02A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36D5A-9178-5D9B-2FCC-5091E569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7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3D187-2B29-0DF7-E53B-CC4C62CF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EFBA8-DCBF-58D9-D180-73252BA3E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97FE6-AD72-F1D4-4665-F11A5992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7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3C45-461E-66EC-42CA-96DC5C4DE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03BAD-E9A5-2944-A26B-D7E2AD81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85039-A8B1-BEF0-0C05-782327604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638EF-0A29-D5B4-F656-C71B734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5DB59-EDD7-7AFE-009A-1F8F5BA83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B8596-B961-D77D-E7B2-0430F02A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04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85440-BDC1-2447-C97A-8CF43F08A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459139-2861-FD1F-EF6A-09B785AA4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9084B-36AD-1BE3-5834-56AF5EA73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2195D-7E99-059B-0276-4F8581E9A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E81DE-70CD-ACCC-4F7F-BFBF6B31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1917B-A624-9917-91DB-20F35F1B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279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56338-5481-D02F-2813-E707C0DB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C22F7-A2D3-96B5-1317-505EBD6DD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9CB0B-8B07-F338-4BA3-EC1F38647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997A1-8380-EAA6-AD23-874A204E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3BA27-8BD1-53A5-AADC-1D996A0F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8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B34387-1C2F-BB19-2014-2159439E8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AE994-BEE9-AA39-73BE-C93BCBB83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A9BDA-D63F-2804-62DB-C705EEA9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E7C48-D065-0618-2269-0D155E7E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32A74-8CBD-83AB-232D-63DDC75B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6C6369-AD7F-E638-08DA-1897E1EE1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CF285-96BD-E068-CD4A-30657E4CC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B9D54-2022-A521-B386-604C9E8B28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E9CC1-668F-4CB4-89DA-D3A463D22EE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A0E11-0BB2-D2C7-B697-ADACF89B9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41D9F-A395-5042-9590-51385ED46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3E8FD0-7AC2-436E-8914-9903CC9AA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131564-F3B1-6353-E57F-FF16CA2D7C0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FBB2E2-36C3-7697-E7A2-B2313A22F128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6FBAC-26BC-7221-1E3B-F6844A785173}"/>
              </a:ext>
            </a:extLst>
          </p:cNvPr>
          <p:cNvSpPr txBox="1"/>
          <p:nvPr/>
        </p:nvSpPr>
        <p:spPr>
          <a:xfrm>
            <a:off x="438912" y="201168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100" b="1">
                <a:solidFill>
                  <a:srgbClr val="F8FAFC"/>
                </a:solidFill>
                <a:latin typeface="Aptos Display" panose="020B0004020202020204" pitchFamily="34" charset="0"/>
              </a:rPr>
              <a:t>STORYFORGEAI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73B06-C7DD-3F58-88C9-25F5C0271828}"/>
              </a:ext>
            </a:extLst>
          </p:cNvPr>
          <p:cNvSpPr txBox="1"/>
          <p:nvPr/>
        </p:nvSpPr>
        <p:spPr>
          <a:xfrm>
            <a:off x="9235440" y="201168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A7B3C7"/>
                </a:solidFill>
                <a:latin typeface="Aptos" panose="020B0004020202020204" pitchFamily="34" charset="0"/>
              </a:rPr>
              <a:t>TECHNICAL INFOGRAPHIC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21DF49-1279-059B-1B7E-97A8FD92E8AB}"/>
              </a:ext>
            </a:extLst>
          </p:cNvPr>
          <p:cNvCxnSpPr/>
          <p:nvPr/>
        </p:nvCxnSpPr>
        <p:spPr>
          <a:xfrm>
            <a:off x="438912" y="6510528"/>
            <a:ext cx="11311128" cy="0"/>
          </a:xfrm>
          <a:prstGeom prst="line">
            <a:avLst/>
          </a:prstGeom>
          <a:ln w="9525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7AB94BF-85FF-5DAD-7333-F4C11C7BF004}"/>
              </a:ext>
            </a:extLst>
          </p:cNvPr>
          <p:cNvSpPr txBox="1"/>
          <p:nvPr/>
        </p:nvSpPr>
        <p:spPr>
          <a:xfrm>
            <a:off x="438912" y="6583680"/>
            <a:ext cx="37490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A7B3C7"/>
                </a:solidFill>
                <a:latin typeface="Aptos" panose="020B0004020202020204" pitchFamily="34" charset="0"/>
              </a:rPr>
              <a:t>Local-first agentic creative studio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43F3B-43C0-1E56-BEFC-957E07DC006B}"/>
              </a:ext>
            </a:extLst>
          </p:cNvPr>
          <p:cNvSpPr txBox="1"/>
          <p:nvPr/>
        </p:nvSpPr>
        <p:spPr>
          <a:xfrm>
            <a:off x="11201400" y="6565392"/>
            <a:ext cx="548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r"/>
            <a:r>
              <a:rPr lang="en-US" sz="900" b="1">
                <a:solidFill>
                  <a:srgbClr val="818CF8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1730A-0B39-4B87-5D5E-6E9B3283FD6A}"/>
              </a:ext>
            </a:extLst>
          </p:cNvPr>
          <p:cNvSpPr txBox="1"/>
          <p:nvPr/>
        </p:nvSpPr>
        <p:spPr>
          <a:xfrm>
            <a:off x="502920" y="621792"/>
            <a:ext cx="3108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000" b="1">
                <a:solidFill>
                  <a:srgbClr val="38BDF8"/>
                </a:solidFill>
                <a:latin typeface="Aptos" panose="020B0004020202020204" pitchFamily="34" charset="0"/>
              </a:rPr>
              <a:t>FOR SOLUTION ENGINEERS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EC478E-1C1D-191A-6946-ADE5835BDA92}"/>
              </a:ext>
            </a:extLst>
          </p:cNvPr>
          <p:cNvSpPr txBox="1"/>
          <p:nvPr/>
        </p:nvSpPr>
        <p:spPr>
          <a:xfrm>
            <a:off x="502920" y="896112"/>
            <a:ext cx="110642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F8FAFC"/>
                </a:solidFill>
                <a:latin typeface="Aptos Display" panose="020B0004020202020204" pitchFamily="34" charset="0"/>
              </a:rPr>
              <a:t>Artifact-driven orchestration across local AI services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C8670C-19A1-93A8-4B97-217DDCBEEDE3}"/>
              </a:ext>
            </a:extLst>
          </p:cNvPr>
          <p:cNvSpPr txBox="1"/>
          <p:nvPr/>
        </p:nvSpPr>
        <p:spPr>
          <a:xfrm>
            <a:off x="502920" y="1444752"/>
            <a:ext cx="10881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250">
                <a:solidFill>
                  <a:srgbClr val="A7B3C7"/>
                </a:solidFill>
                <a:latin typeface="Aptos" panose="020B0004020202020204" pitchFamily="34" charset="0"/>
              </a:rPr>
              <a:t>A TypeScript control plane stores creative state, resolves per-scene context, and sends schema-valid generation jobs to Wan2GP over MCP.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AEF74D-8059-BAD4-1CCB-B5FF5A31B335}"/>
              </a:ext>
            </a:extLst>
          </p:cNvPr>
          <p:cNvSpPr/>
          <p:nvPr/>
        </p:nvSpPr>
        <p:spPr>
          <a:xfrm>
            <a:off x="502920" y="2011680"/>
            <a:ext cx="2148840" cy="1261872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FFE7F-7BA2-25BB-F5B5-458991440675}"/>
              </a:ext>
            </a:extLst>
          </p:cNvPr>
          <p:cNvSpPr txBox="1"/>
          <p:nvPr/>
        </p:nvSpPr>
        <p:spPr>
          <a:xfrm>
            <a:off x="621792" y="2157984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38BDF8"/>
                </a:solidFill>
                <a:latin typeface="Aptos" panose="020B0004020202020204" pitchFamily="34" charset="0"/>
              </a:rPr>
              <a:t>EXPERIENCE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EB7E9-12B9-4FD6-2230-BD8FF229D336}"/>
              </a:ext>
            </a:extLst>
          </p:cNvPr>
          <p:cNvSpPr txBox="1"/>
          <p:nvPr/>
        </p:nvSpPr>
        <p:spPr>
          <a:xfrm>
            <a:off x="621792" y="2496312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60">
                <a:solidFill>
                  <a:srgbClr val="F8FAFC"/>
                </a:solidFill>
                <a:latin typeface="Aptos" panose="020B0004020202020204" pitchFamily="34" charset="0"/>
              </a:rPr>
              <a:t>Next.js UI
Projects | Canvas | Storyboard | Console | Assembly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3B4A82C-A3DF-0B2B-6CE5-6B946F9B7491}"/>
              </a:ext>
            </a:extLst>
          </p:cNvPr>
          <p:cNvSpPr/>
          <p:nvPr/>
        </p:nvSpPr>
        <p:spPr>
          <a:xfrm>
            <a:off x="2926080" y="2011680"/>
            <a:ext cx="2148840" cy="1261872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FE7828-18A4-4FE5-2802-C385D95886D9}"/>
              </a:ext>
            </a:extLst>
          </p:cNvPr>
          <p:cNvSpPr txBox="1"/>
          <p:nvPr/>
        </p:nvSpPr>
        <p:spPr>
          <a:xfrm>
            <a:off x="3044952" y="2157984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38BDF8"/>
                </a:solidFill>
                <a:latin typeface="Aptos" panose="020B0004020202020204" pitchFamily="34" charset="0"/>
              </a:rPr>
              <a:t>CONTROL PLANE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2EACDF-E46B-5BB7-1B22-9952861C4878}"/>
              </a:ext>
            </a:extLst>
          </p:cNvPr>
          <p:cNvSpPr txBox="1"/>
          <p:nvPr/>
        </p:nvSpPr>
        <p:spPr>
          <a:xfrm>
            <a:off x="3044952" y="2496312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60">
                <a:solidFill>
                  <a:srgbClr val="F8FAFC"/>
                </a:solidFill>
                <a:latin typeface="Aptos" panose="020B0004020202020204" pitchFamily="34" charset="0"/>
              </a:rPr>
              <a:t>API routes + services
Orchestrators | queues | approvals | exports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DE8C26-834E-8D7C-91DE-B1E57C67E8AD}"/>
              </a:ext>
            </a:extLst>
          </p:cNvPr>
          <p:cNvSpPr/>
          <p:nvPr/>
        </p:nvSpPr>
        <p:spPr>
          <a:xfrm>
            <a:off x="5349240" y="2011680"/>
            <a:ext cx="2148840" cy="1261872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0C5476-6635-EA8F-BA7D-FF383EFA2CAD}"/>
              </a:ext>
            </a:extLst>
          </p:cNvPr>
          <p:cNvSpPr txBox="1"/>
          <p:nvPr/>
        </p:nvSpPr>
        <p:spPr>
          <a:xfrm>
            <a:off x="5468112" y="2157984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CREATIVE ARTIFACTS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E16C62-A5C1-220E-BE44-EC6B80A9150C}"/>
              </a:ext>
            </a:extLst>
          </p:cNvPr>
          <p:cNvSpPr txBox="1"/>
          <p:nvPr/>
        </p:nvSpPr>
        <p:spPr>
          <a:xfrm>
            <a:off x="5468112" y="2496312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60">
                <a:solidFill>
                  <a:srgbClr val="F8FAFC"/>
                </a:solidFill>
                <a:latin typeface="Aptos" panose="020B0004020202020204" pitchFamily="34" charset="0"/>
              </a:rPr>
              <a:t>Zod-validated records
Brief | plans | scenes | prompts | attempts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283876-EBCB-8D34-C029-0E1E66C2AAD9}"/>
              </a:ext>
            </a:extLst>
          </p:cNvPr>
          <p:cNvSpPr/>
          <p:nvPr/>
        </p:nvSpPr>
        <p:spPr>
          <a:xfrm>
            <a:off x="7772400" y="2011680"/>
            <a:ext cx="2148840" cy="1261872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9CFEEF-1262-8869-738F-8B91E78DAFB1}"/>
              </a:ext>
            </a:extLst>
          </p:cNvPr>
          <p:cNvSpPr txBox="1"/>
          <p:nvPr/>
        </p:nvSpPr>
        <p:spPr>
          <a:xfrm>
            <a:off x="7891272" y="2157984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F59E0B"/>
                </a:solidFill>
                <a:latin typeface="Aptos" panose="020B0004020202020204" pitchFamily="34" charset="0"/>
              </a:rPr>
              <a:t>MCP ADAPTER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526459-1021-9E6D-1AF8-8408687270EC}"/>
              </a:ext>
            </a:extLst>
          </p:cNvPr>
          <p:cNvSpPr txBox="1"/>
          <p:nvPr/>
        </p:nvSpPr>
        <p:spPr>
          <a:xfrm>
            <a:off x="7891272" y="2496312"/>
            <a:ext cx="191109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60">
                <a:solidFill>
                  <a:srgbClr val="F8FAFC"/>
                </a:solidFill>
                <a:latin typeface="Aptos" panose="020B0004020202020204" pitchFamily="34" charset="0"/>
              </a:rPr>
              <a:t>Wan2GP client
Discover | schema | submit | poll | cancel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1DAE373-7C28-4CFE-43A5-69EAEED8F153}"/>
              </a:ext>
            </a:extLst>
          </p:cNvPr>
          <p:cNvSpPr/>
          <p:nvPr/>
        </p:nvSpPr>
        <p:spPr>
          <a:xfrm>
            <a:off x="10195560" y="2011680"/>
            <a:ext cx="1490472" cy="1261872"/>
          </a:xfrm>
          <a:prstGeom prst="roundRect">
            <a:avLst/>
          </a:prstGeom>
          <a:solidFill>
            <a:srgbClr val="131A26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FCB579-84C1-8F39-8679-8D5CB4C284D1}"/>
              </a:ext>
            </a:extLst>
          </p:cNvPr>
          <p:cNvSpPr txBox="1"/>
          <p:nvPr/>
        </p:nvSpPr>
        <p:spPr>
          <a:xfrm>
            <a:off x="10314432" y="2157984"/>
            <a:ext cx="12527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50" b="1">
                <a:solidFill>
                  <a:srgbClr val="F59E0B"/>
                </a:solidFill>
                <a:latin typeface="Aptos" panose="020B0004020202020204" pitchFamily="34" charset="0"/>
              </a:rPr>
              <a:t>MEDIA ENGINE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09DF28-2855-8399-6426-646968695780}"/>
              </a:ext>
            </a:extLst>
          </p:cNvPr>
          <p:cNvSpPr txBox="1"/>
          <p:nvPr/>
        </p:nvSpPr>
        <p:spPr>
          <a:xfrm>
            <a:off x="10314432" y="2496312"/>
            <a:ext cx="12527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960">
                <a:solidFill>
                  <a:srgbClr val="F8FAFC"/>
                </a:solidFill>
                <a:latin typeface="Aptos" panose="020B0004020202020204" pitchFamily="34" charset="0"/>
              </a:rPr>
              <a:t>Installed model families
Image | video | audio | postprocess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02D75E-DA14-4F7E-327A-DE512F956ECB}"/>
              </a:ext>
            </a:extLst>
          </p:cNvPr>
          <p:cNvCxnSpPr/>
          <p:nvPr/>
        </p:nvCxnSpPr>
        <p:spPr>
          <a:xfrm>
            <a:off x="2688336" y="2642616"/>
            <a:ext cx="16459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AAB41D-623D-6AA1-F3B4-94175B31C0EC}"/>
              </a:ext>
            </a:extLst>
          </p:cNvPr>
          <p:cNvCxnSpPr/>
          <p:nvPr/>
        </p:nvCxnSpPr>
        <p:spPr>
          <a:xfrm>
            <a:off x="5111496" y="2642616"/>
            <a:ext cx="16459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291863-7C42-6D34-B8DF-E99AF6D64C31}"/>
              </a:ext>
            </a:extLst>
          </p:cNvPr>
          <p:cNvCxnSpPr/>
          <p:nvPr/>
        </p:nvCxnSpPr>
        <p:spPr>
          <a:xfrm>
            <a:off x="7534656" y="2642616"/>
            <a:ext cx="16459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B364221-9596-25C0-85BE-9441B5512A8E}"/>
              </a:ext>
            </a:extLst>
          </p:cNvPr>
          <p:cNvCxnSpPr/>
          <p:nvPr/>
        </p:nvCxnSpPr>
        <p:spPr>
          <a:xfrm>
            <a:off x="9957816" y="2642616"/>
            <a:ext cx="164592" cy="0"/>
          </a:xfrm>
          <a:prstGeom prst="line">
            <a:avLst/>
          </a:prstGeom>
          <a:ln w="19050">
            <a:solidFill>
              <a:srgbClr val="2A354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5E7EBB2-509E-642F-8AF4-F56168050AEF}"/>
              </a:ext>
            </a:extLst>
          </p:cNvPr>
          <p:cNvSpPr txBox="1"/>
          <p:nvPr/>
        </p:nvSpPr>
        <p:spPr>
          <a:xfrm>
            <a:off x="502920" y="3611880"/>
            <a:ext cx="40233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818CF8"/>
                </a:solidFill>
                <a:latin typeface="Aptos" panose="020B0004020202020204" pitchFamily="34" charset="0"/>
              </a:rPr>
              <a:t>PER-SCENE RESOLUTION BEFORE THE PROMPT CALL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026577C-A58F-BA24-4CA3-78452FEDAE71}"/>
              </a:ext>
            </a:extLst>
          </p:cNvPr>
          <p:cNvSpPr/>
          <p:nvPr/>
        </p:nvSpPr>
        <p:spPr>
          <a:xfrm>
            <a:off x="502920" y="3913632"/>
            <a:ext cx="1965960" cy="896112"/>
          </a:xfrm>
          <a:prstGeom prst="roundRect">
            <a:avLst/>
          </a:prstGeom>
          <a:solidFill>
            <a:srgbClr val="0F1520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E70AE9-BE6B-594E-009A-38260F80F6F6}"/>
              </a:ext>
            </a:extLst>
          </p:cNvPr>
          <p:cNvSpPr txBox="1"/>
          <p:nvPr/>
        </p:nvSpPr>
        <p:spPr>
          <a:xfrm>
            <a:off x="640080" y="4059936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Cast scope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B927BC-1CA2-98DA-2ECA-DE579E19A027}"/>
              </a:ext>
            </a:extLst>
          </p:cNvPr>
          <p:cNvSpPr txBox="1"/>
          <p:nvPr/>
        </p:nvSpPr>
        <p:spPr>
          <a:xfrm>
            <a:off x="640080" y="4343400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880">
                <a:solidFill>
                  <a:srgbClr val="A7B3C7"/>
                </a:solidFill>
                <a:latin typeface="Aptos" panose="020B0004020202020204" pitchFamily="34" charset="0"/>
              </a:rPr>
              <a:t>Who is in this shot?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4927B7A-9F22-EEA5-7F3C-032B48302FA1}"/>
              </a:ext>
            </a:extLst>
          </p:cNvPr>
          <p:cNvSpPr/>
          <p:nvPr/>
        </p:nvSpPr>
        <p:spPr>
          <a:xfrm>
            <a:off x="2679192" y="3913632"/>
            <a:ext cx="1965960" cy="896112"/>
          </a:xfrm>
          <a:prstGeom prst="roundRect">
            <a:avLst/>
          </a:prstGeom>
          <a:solidFill>
            <a:srgbClr val="0F1520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431A80-90C4-D3FB-B704-487B077301E4}"/>
              </a:ext>
            </a:extLst>
          </p:cNvPr>
          <p:cNvSpPr txBox="1"/>
          <p:nvPr/>
        </p:nvSpPr>
        <p:spPr>
          <a:xfrm>
            <a:off x="2816352" y="4059936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Wardrobe timeline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ACF188-0E1A-BC4D-564F-93C952D9C22D}"/>
              </a:ext>
            </a:extLst>
          </p:cNvPr>
          <p:cNvSpPr txBox="1"/>
          <p:nvPr/>
        </p:nvSpPr>
        <p:spPr>
          <a:xfrm>
            <a:off x="2816352" y="4343400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880">
                <a:solidFill>
                  <a:srgbClr val="A7B3C7"/>
                </a:solidFill>
                <a:latin typeface="Aptos" panose="020B0004020202020204" pitchFamily="34" charset="0"/>
              </a:rPr>
              <a:t>What are they wearing now?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3CC3454-FF9A-9D41-1D1A-8D97C7E27711}"/>
              </a:ext>
            </a:extLst>
          </p:cNvPr>
          <p:cNvSpPr/>
          <p:nvPr/>
        </p:nvSpPr>
        <p:spPr>
          <a:xfrm>
            <a:off x="4855464" y="3913632"/>
            <a:ext cx="1965960" cy="896112"/>
          </a:xfrm>
          <a:prstGeom prst="roundRect">
            <a:avLst/>
          </a:prstGeom>
          <a:solidFill>
            <a:srgbClr val="0F1520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3DEDD7-969A-A7FC-1AA0-E29650FF7949}"/>
              </a:ext>
            </a:extLst>
          </p:cNvPr>
          <p:cNvSpPr txBox="1"/>
          <p:nvPr/>
        </p:nvSpPr>
        <p:spPr>
          <a:xfrm>
            <a:off x="4992624" y="4059936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Model family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53CDB1-B3E1-7600-14FF-B60DCF28FFD8}"/>
              </a:ext>
            </a:extLst>
          </p:cNvPr>
          <p:cNvSpPr txBox="1"/>
          <p:nvPr/>
        </p:nvSpPr>
        <p:spPr>
          <a:xfrm>
            <a:off x="4992624" y="4343400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880">
                <a:solidFill>
                  <a:srgbClr val="A7B3C7"/>
                </a:solidFill>
                <a:latin typeface="Aptos" panose="020B0004020202020204" pitchFamily="34" charset="0"/>
              </a:rPr>
              <a:t>Which prompt grammar applies?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F48EAB1-E6C3-3A2D-683E-0AFAFD216B88}"/>
              </a:ext>
            </a:extLst>
          </p:cNvPr>
          <p:cNvSpPr/>
          <p:nvPr/>
        </p:nvSpPr>
        <p:spPr>
          <a:xfrm>
            <a:off x="7031736" y="3913632"/>
            <a:ext cx="1965960" cy="896112"/>
          </a:xfrm>
          <a:prstGeom prst="roundRect">
            <a:avLst/>
          </a:prstGeom>
          <a:solidFill>
            <a:srgbClr val="0F1520"/>
          </a:solidFill>
          <a:ln w="10160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E00681-B950-3EE8-22A3-089FE5812680}"/>
              </a:ext>
            </a:extLst>
          </p:cNvPr>
          <p:cNvSpPr txBox="1"/>
          <p:nvPr/>
        </p:nvSpPr>
        <p:spPr>
          <a:xfrm>
            <a:off x="7168896" y="4059936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F8FAFC"/>
                </a:solidFill>
                <a:latin typeface="Aptos Display" panose="020B0004020202020204" pitchFamily="34" charset="0"/>
              </a:rPr>
              <a:t>Continuity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C28D20-AB02-83EC-2AFA-806DACC13E3B}"/>
              </a:ext>
            </a:extLst>
          </p:cNvPr>
          <p:cNvSpPr txBox="1"/>
          <p:nvPr/>
        </p:nvSpPr>
        <p:spPr>
          <a:xfrm>
            <a:off x="7168896" y="4343400"/>
            <a:ext cx="16916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880">
                <a:solidFill>
                  <a:srgbClr val="A7B3C7"/>
                </a:solidFill>
                <a:latin typeface="Aptos" panose="020B0004020202020204" pitchFamily="34" charset="0"/>
              </a:rPr>
              <a:t>Cut, carried frame or clip continuation?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FF82760-84AE-53A6-7ACE-750FDE444591}"/>
              </a:ext>
            </a:extLst>
          </p:cNvPr>
          <p:cNvCxnSpPr/>
          <p:nvPr/>
        </p:nvCxnSpPr>
        <p:spPr>
          <a:xfrm>
            <a:off x="9171432" y="4361688"/>
            <a:ext cx="411480" cy="0"/>
          </a:xfrm>
          <a:prstGeom prst="line">
            <a:avLst/>
          </a:prstGeom>
          <a:ln w="19050">
            <a:solidFill>
              <a:srgbClr val="818CF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2F74395-6958-A5D9-331A-8A13AEB986EE}"/>
              </a:ext>
            </a:extLst>
          </p:cNvPr>
          <p:cNvSpPr/>
          <p:nvPr/>
        </p:nvSpPr>
        <p:spPr>
          <a:xfrm>
            <a:off x="9646920" y="3858768"/>
            <a:ext cx="2039112" cy="1005840"/>
          </a:xfrm>
          <a:prstGeom prst="roundRect">
            <a:avLst/>
          </a:prstGeom>
          <a:solidFill>
            <a:srgbClr val="182131"/>
          </a:solidFill>
          <a:ln w="13970">
            <a:solidFill>
              <a:srgbClr val="818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20BF1A-3498-2A21-3AAC-5E0621702554}"/>
              </a:ext>
            </a:extLst>
          </p:cNvPr>
          <p:cNvSpPr txBox="1"/>
          <p:nvPr/>
        </p:nvSpPr>
        <p:spPr>
          <a:xfrm>
            <a:off x="9802368" y="4050792"/>
            <a:ext cx="172821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1400" b="1">
                <a:solidFill>
                  <a:srgbClr val="F8FAFC"/>
                </a:solidFill>
                <a:latin typeface="Aptos Display" panose="020B0004020202020204" pitchFamily="34" charset="0"/>
              </a:rPr>
              <a:t>2 calls / scene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06EC35-73F3-0209-C26B-0C178CF66FC5}"/>
              </a:ext>
            </a:extLst>
          </p:cNvPr>
          <p:cNvSpPr txBox="1"/>
          <p:nvPr/>
        </p:nvSpPr>
        <p:spPr>
          <a:xfrm>
            <a:off x="9802368" y="4398264"/>
            <a:ext cx="1728216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20" b="1">
                <a:solidFill>
                  <a:srgbClr val="818CF8"/>
                </a:solidFill>
                <a:latin typeface="Aptos" panose="020B0004020202020204" pitchFamily="34" charset="0"/>
              </a:rPr>
              <a:t>image pass + video pass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826257-B983-9789-7A9C-C18A6C2048B2}"/>
              </a:ext>
            </a:extLst>
          </p:cNvPr>
          <p:cNvSpPr txBox="1"/>
          <p:nvPr/>
        </p:nvSpPr>
        <p:spPr>
          <a:xfrm>
            <a:off x="502920" y="5175504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950" b="1">
                <a:solidFill>
                  <a:srgbClr val="38BDF8"/>
                </a:solidFill>
                <a:latin typeface="Aptos" panose="020B0004020202020204" pitchFamily="34" charset="0"/>
              </a:rPr>
              <a:t>OPTIONAL LOCAL SIDECARS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B3541A2-D72D-2E68-CA70-26E45E0EDE38}"/>
              </a:ext>
            </a:extLst>
          </p:cNvPr>
          <p:cNvSpPr/>
          <p:nvPr/>
        </p:nvSpPr>
        <p:spPr>
          <a:xfrm>
            <a:off x="502920" y="5486400"/>
            <a:ext cx="2487168" cy="329184"/>
          </a:xfrm>
          <a:prstGeom prst="roundRect">
            <a:avLst/>
          </a:prstGeom>
          <a:solidFill>
            <a:srgbClr val="12344A"/>
          </a:solidFill>
          <a:ln w="9525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8A3003-ADC0-46EF-792D-8B55CD132583}"/>
              </a:ext>
            </a:extLst>
          </p:cNvPr>
          <p:cNvSpPr txBox="1"/>
          <p:nvPr/>
        </p:nvSpPr>
        <p:spPr>
          <a:xfrm>
            <a:off x="502920" y="5486400"/>
            <a:ext cx="248716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Aptos" panose="020B0004020202020204" pitchFamily="34" charset="0"/>
              </a:rPr>
              <a:t>OpenAI-compatible planning LLM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172A09E-2A0D-BF79-3A3B-0B8288FA06A2}"/>
              </a:ext>
            </a:extLst>
          </p:cNvPr>
          <p:cNvSpPr/>
          <p:nvPr/>
        </p:nvSpPr>
        <p:spPr>
          <a:xfrm>
            <a:off x="3182112" y="5486400"/>
            <a:ext cx="1938528" cy="329184"/>
          </a:xfrm>
          <a:prstGeom prst="roundRect">
            <a:avLst/>
          </a:prstGeom>
          <a:solidFill>
            <a:srgbClr val="182131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F5A76F-4F46-4B81-37EA-6974A7E3BC60}"/>
              </a:ext>
            </a:extLst>
          </p:cNvPr>
          <p:cNvSpPr txBox="1"/>
          <p:nvPr/>
        </p:nvSpPr>
        <p:spPr>
          <a:xfrm>
            <a:off x="3182112" y="5486400"/>
            <a:ext cx="19385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00" b="1">
                <a:solidFill>
                  <a:srgbClr val="F8FAFC"/>
                </a:solidFill>
                <a:latin typeface="Aptos" panose="020B0004020202020204" pitchFamily="34" charset="0"/>
              </a:rPr>
              <a:t>JSON file project store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25B92F7-DCEC-B9A2-0E21-9F51C6BEE537}"/>
              </a:ext>
            </a:extLst>
          </p:cNvPr>
          <p:cNvSpPr/>
          <p:nvPr/>
        </p:nvSpPr>
        <p:spPr>
          <a:xfrm>
            <a:off x="5312664" y="5486400"/>
            <a:ext cx="1481328" cy="329184"/>
          </a:xfrm>
          <a:prstGeom prst="roundRect">
            <a:avLst/>
          </a:prstGeom>
          <a:solidFill>
            <a:srgbClr val="182131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264D82-1D15-5118-0058-35549B4C6BC4}"/>
              </a:ext>
            </a:extLst>
          </p:cNvPr>
          <p:cNvSpPr txBox="1"/>
          <p:nvPr/>
        </p:nvSpPr>
        <p:spPr>
          <a:xfrm>
            <a:off x="5312664" y="5486400"/>
            <a:ext cx="148132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00" b="1">
                <a:solidFill>
                  <a:srgbClr val="F8FAFC"/>
                </a:solidFill>
                <a:latin typeface="Aptos" panose="020B0004020202020204" pitchFamily="34" charset="0"/>
              </a:rPr>
              <a:t>ffmpeg assembly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3354CE5-5533-0E3E-DE51-E37789758ED1}"/>
              </a:ext>
            </a:extLst>
          </p:cNvPr>
          <p:cNvSpPr/>
          <p:nvPr/>
        </p:nvSpPr>
        <p:spPr>
          <a:xfrm>
            <a:off x="6986016" y="5486400"/>
            <a:ext cx="1234440" cy="329184"/>
          </a:xfrm>
          <a:prstGeom prst="roundRect">
            <a:avLst/>
          </a:prstGeom>
          <a:solidFill>
            <a:srgbClr val="182131"/>
          </a:solidFill>
          <a:ln w="9525">
            <a:solidFill>
              <a:srgbClr val="2A35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99CDB0-0E7E-45DE-8AED-2AD1058074C2}"/>
              </a:ext>
            </a:extLst>
          </p:cNvPr>
          <p:cNvSpPr txBox="1"/>
          <p:nvPr/>
        </p:nvSpPr>
        <p:spPr>
          <a:xfrm>
            <a:off x="6986016" y="5486400"/>
            <a:ext cx="1234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00" b="1">
                <a:solidFill>
                  <a:srgbClr val="F8FAFC"/>
                </a:solidFill>
                <a:latin typeface="Aptos" panose="020B0004020202020204" pitchFamily="34" charset="0"/>
              </a:rPr>
              <a:t>Deepy assist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4FF7F75-D64A-111A-80CC-073D8089C6E0}"/>
              </a:ext>
            </a:extLst>
          </p:cNvPr>
          <p:cNvSpPr/>
          <p:nvPr/>
        </p:nvSpPr>
        <p:spPr>
          <a:xfrm>
            <a:off x="8412480" y="5486400"/>
            <a:ext cx="2578608" cy="329184"/>
          </a:xfrm>
          <a:prstGeom prst="roundRect">
            <a:avLst/>
          </a:prstGeom>
          <a:solidFill>
            <a:srgbClr val="0C342B"/>
          </a:solidFill>
          <a:ln w="9525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662F36-AAEB-491D-EB34-6E53C4CBE662}"/>
              </a:ext>
            </a:extLst>
          </p:cNvPr>
          <p:cNvSpPr txBox="1"/>
          <p:nvPr/>
        </p:nvSpPr>
        <p:spPr>
          <a:xfrm>
            <a:off x="8412480" y="5486400"/>
            <a:ext cx="257860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en-US" sz="900" b="1">
                <a:solidFill>
                  <a:srgbClr val="10B981"/>
                </a:solidFill>
                <a:latin typeface="Aptos" panose="020B0004020202020204" pitchFamily="34" charset="0"/>
              </a:rPr>
              <a:t>Deterministic mocks for demo/test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3EAE6E-13E3-B131-E149-F0B69ED46BA8}"/>
              </a:ext>
            </a:extLst>
          </p:cNvPr>
          <p:cNvSpPr txBox="1"/>
          <p:nvPr/>
        </p:nvSpPr>
        <p:spPr>
          <a:xfrm>
            <a:off x="1051560" y="5989320"/>
            <a:ext cx="1005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algn="ctr"/>
            <a:r>
              <a:rPr lang="en-US" sz="930">
                <a:solidFill>
                  <a:srgbClr val="A7B3C7"/>
                </a:solidFill>
                <a:latin typeface="Aptos" panose="020B0004020202020204" pitchFamily="34" charset="0"/>
              </a:rPr>
              <a:t>External systems are feature-gated behind swappable interfaces; live media generation requires a reachable Wan2GP MCP server.</a:t>
            </a:r>
          </a:p>
        </p:txBody>
      </p:sp>
    </p:spTree>
    <p:extLst>
      <p:ext uri="{BB962C8B-B14F-4D97-AF65-F5344CB8AC3E}">
        <p14:creationId xmlns:p14="http://schemas.microsoft.com/office/powerpoint/2010/main" val="915810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StoryForgeAI</dc:creator>
  <cp:lastModifiedBy>StoryForgeAI</cp:lastModifiedBy>
  <cp:revision>1</cp:revision>
  <dcterms:created xsi:type="dcterms:W3CDTF">2026-09-02T13:30:33Z</dcterms:created>
  <dcterms:modified xsi:type="dcterms:W3CDTF">2026-09-02T13:30:33Z</dcterms:modified>
</cp:coreProperties>
</file>