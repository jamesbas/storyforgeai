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ECBB3-B690-3D06-F762-D6A8AB613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76787-9BEB-0CA3-793E-5999FD3BD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C02CF-6870-A5AF-F885-19E269134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DCA5-41F0-454A-9F81-917D39A4866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947C6-9A72-D511-37DF-139C96C0C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EAF06-40B3-BBD9-9383-F0A68BDF9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84D99-7C91-408C-8098-F9ECF88A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500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BC082-45D1-2BEF-99B2-20F62F4B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D0C2D-0CC2-40A4-B4EF-C1E848E40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CA9-1AEA-2DFB-537B-5ECEF5DC4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DCA5-41F0-454A-9F81-917D39A4866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D99C3-2B34-223B-48EE-3B3E9AC5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44515-AA8E-9FAF-DA83-606C35677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84D99-7C91-408C-8098-F9ECF88A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87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F2B9D-B21D-A082-678F-985BAC3FF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192C2-A634-ACEB-8942-E3CBF1C3C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6C2A4-32CE-D736-BA01-E6855A9A8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DCA5-41F0-454A-9F81-917D39A4866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06633-4450-C130-22A4-E7820008F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AAABD-FD56-F172-25CF-747DD6623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84D99-7C91-408C-8098-F9ECF88A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19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2E7B8-6EE0-F39B-1A3B-C2D25E88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3EC5-0C2B-BA7A-2939-B3ACA4D7A9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72B6C-D4C1-7C32-2F17-56522DFC9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4F74B-25B9-6988-E464-E195651EB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DCA5-41F0-454A-9F81-917D39A4866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4504F-30F4-4D44-3546-33BFF277C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EF700-278B-6A10-0DA6-4FBBC6B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84D99-7C91-408C-8098-F9ECF88A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048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F0F57-19E6-6EE5-DBA4-1380677C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15DA9-CF19-E05F-A4C2-2E1CFB801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FC71E-DC9C-90B3-BDBF-0786E1C27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9BCA4B-7335-91C9-1E62-7F4ED9F876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BA92D6-5C23-1577-1715-67951CD1DC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1058A-86FD-8DBE-E76A-145BD022F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DCA5-41F0-454A-9F81-917D39A4866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09986C-BF38-C81B-2A92-44F7D0680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B5C0F4-97BB-5A82-72EC-4F75F7D60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84D99-7C91-408C-8098-F9ECF88A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11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D0C2D-3AEF-2FE8-EA86-EDC6BF667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831969-0B0B-5E76-F858-326E72E7C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DCA5-41F0-454A-9F81-917D39A4866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5DFC52-6D35-5596-4C0B-A8A0EFBD7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56F08-8099-6F36-01BB-0A1CF014F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84D99-7C91-408C-8098-F9ECF88A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23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396A85-99B8-3149-EBBD-7AFDBC03F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DCA5-41F0-454A-9F81-917D39A4866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BA7773-EE11-B8CE-62C5-74250359C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3B956-A68E-9DC0-5BB9-71DFA660C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84D99-7C91-408C-8098-F9ECF88A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935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33561-8072-2CDC-3CA4-4AC11A11D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6D838-DDEA-D8BA-CFC4-1508467D5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0C94D-B1E8-36DC-3222-844626D48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2FF36-8F0A-7454-A938-B60A299AB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DCA5-41F0-454A-9F81-917D39A4866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0CD3C-A777-C050-6C57-EAFE68BAE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0B9F1-CB5F-315B-51D0-1C89A9D6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84D99-7C91-408C-8098-F9ECF88A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024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2128A-F172-E77E-8C23-6992CB8BB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FE8BF1-3912-90BE-D59A-A144245893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A49127-70EC-B511-3C90-7507B6600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8518B-6418-4829-9755-7F1286031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DCA5-41F0-454A-9F81-917D39A4866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1C3D6-023B-3784-4528-49E4E5C77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4BABA-B3DE-E83D-170C-8D45E419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84D99-7C91-408C-8098-F9ECF88A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92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ABBF5-5FBD-60C1-5817-77D595B2E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5ECCD2-494D-B0F5-01C2-FE145CA7F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823EE-D3A6-0FA8-8273-703F73DE4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DCA5-41F0-454A-9F81-917D39A4866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FAA9D-3EBF-7AA9-D319-1EDBC467F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BD2AE-BB40-F4F5-F9B4-9ECBC422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84D99-7C91-408C-8098-F9ECF88A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1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11676D-BE8C-0F0D-2B5B-B223E9F681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FD1E7-9215-24F7-9B77-3FEFD885D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D375E-1E60-C5A1-8907-1FF4324DC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CDCA5-41F0-454A-9F81-917D39A4866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47C7F-6A31-7FC3-0469-12B3C05EE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D1542-F86B-B710-8A84-C25E79FF9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84D99-7C91-408C-8098-F9ECF88A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00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6CBC7C-0D9C-08C3-4DEC-7D49FFD8D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77165-12BE-73C5-A283-A8D7D56CC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9CE3C-B4DF-F3A5-008B-B55D53E1D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CCDCA5-41F0-454A-9F81-917D39A4866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0A597-27A7-BE13-5B3F-61287F675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E5E6A-B133-C381-B2E0-64D4CCAF6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84D99-7C91-408C-8098-F9ECF88A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81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ABFBE2-A7C0-4A18-AF86-7E2FE8959E1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3D3F9D-7455-B275-3071-6698F457BCE2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46A3B8-28EF-BC60-A6F1-ECC35F8BD41A}"/>
              </a:ext>
            </a:extLst>
          </p:cNvPr>
          <p:cNvSpPr txBox="1"/>
          <p:nvPr/>
        </p:nvSpPr>
        <p:spPr>
          <a:xfrm>
            <a:off x="438912" y="201168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 Display" panose="020B0004020202020204" pitchFamily="34" charset="0"/>
              </a:rPr>
              <a:t>STORYFORGEAI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99A1E-2947-038B-6385-FC9DDCF7F65D}"/>
              </a:ext>
            </a:extLst>
          </p:cNvPr>
          <p:cNvSpPr txBox="1"/>
          <p:nvPr/>
        </p:nvSpPr>
        <p:spPr>
          <a:xfrm>
            <a:off x="9235440" y="201168"/>
            <a:ext cx="2487168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r"/>
            <a:r>
              <a:rPr lang="en-US" sz="900" b="1">
                <a:solidFill>
                  <a:srgbClr val="A7B3C7"/>
                </a:solidFill>
                <a:latin typeface="Aptos" panose="020B0004020202020204" pitchFamily="34" charset="0"/>
              </a:rPr>
              <a:t>BUSINESS INFOGRAPHIC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60886D-D506-840B-28F0-1B2082BD8A6D}"/>
              </a:ext>
            </a:extLst>
          </p:cNvPr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A59B807-B68F-606D-AF83-4E74D15FF9D0}"/>
              </a:ext>
            </a:extLst>
          </p:cNvPr>
          <p:cNvSpPr txBox="1"/>
          <p:nvPr/>
        </p:nvSpPr>
        <p:spPr>
          <a:xfrm>
            <a:off x="438912" y="6583680"/>
            <a:ext cx="37490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850">
                <a:solidFill>
                  <a:srgbClr val="A7B3C7"/>
                </a:solidFill>
                <a:latin typeface="Aptos" panose="020B0004020202020204" pitchFamily="34" charset="0"/>
              </a:rPr>
              <a:t>Local-first agentic creative studio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FC898A-F075-3130-0F8A-45FB536A9E04}"/>
              </a:ext>
            </a:extLst>
          </p:cNvPr>
          <p:cNvSpPr txBox="1"/>
          <p:nvPr/>
        </p:nvSpPr>
        <p:spPr>
          <a:xfrm>
            <a:off x="11201400" y="6565392"/>
            <a:ext cx="548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r"/>
            <a:r>
              <a:rPr lang="en-US" sz="900" b="1">
                <a:solidFill>
                  <a:srgbClr val="818CF8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FE4F9C-1A0D-18B6-BF25-C7874AB0D18C}"/>
              </a:ext>
            </a:extLst>
          </p:cNvPr>
          <p:cNvSpPr txBox="1"/>
          <p:nvPr/>
        </p:nvSpPr>
        <p:spPr>
          <a:xfrm>
            <a:off x="502920" y="621792"/>
            <a:ext cx="31089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000" b="1">
                <a:solidFill>
                  <a:srgbClr val="38BDF8"/>
                </a:solidFill>
                <a:latin typeface="Aptos" panose="020B0004020202020204" pitchFamily="34" charset="0"/>
              </a:rPr>
              <a:t>FOR BUSINESS LEADERS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E9A8CA-F35D-2EC6-EF3E-2983FA3652AA}"/>
              </a:ext>
            </a:extLst>
          </p:cNvPr>
          <p:cNvSpPr txBox="1"/>
          <p:nvPr/>
        </p:nvSpPr>
        <p:spPr>
          <a:xfrm>
            <a:off x="502920" y="896112"/>
            <a:ext cx="110642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F8FAFC"/>
                </a:solidFill>
                <a:latin typeface="Aptos Display" panose="020B0004020202020204" pitchFamily="34" charset="0"/>
              </a:rPr>
              <a:t>Creative scale with control points built 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9C61CC-F646-778A-A986-711669118CF3}"/>
              </a:ext>
            </a:extLst>
          </p:cNvPr>
          <p:cNvSpPr txBox="1"/>
          <p:nvPr/>
        </p:nvSpPr>
        <p:spPr>
          <a:xfrm>
            <a:off x="502920" y="1444752"/>
            <a:ext cx="108813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50">
                <a:solidFill>
                  <a:srgbClr val="A7B3C7"/>
                </a:solidFill>
                <a:latin typeface="Aptos" panose="020B0004020202020204" pitchFamily="34" charset="0"/>
              </a:rPr>
              <a:t>StoryForgeAI coordinates specialized AI work around a shared storyboard, keeping human choice visible from direction to final cut.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A72B4CC-0F39-C6C5-BFA2-1795BD96CEE5}"/>
              </a:ext>
            </a:extLst>
          </p:cNvPr>
          <p:cNvSpPr/>
          <p:nvPr/>
        </p:nvSpPr>
        <p:spPr>
          <a:xfrm>
            <a:off x="502920" y="2157984"/>
            <a:ext cx="1938528" cy="1005840"/>
          </a:xfrm>
          <a:prstGeom prst="roundRect">
            <a:avLst/>
          </a:prstGeom>
          <a:solidFill>
            <a:srgbClr val="131A26"/>
          </a:solidFill>
          <a:ln w="1651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12D25B-9CE0-0D6B-6B74-C343F18A0F9B}"/>
              </a:ext>
            </a:extLst>
          </p:cNvPr>
          <p:cNvSpPr/>
          <p:nvPr/>
        </p:nvSpPr>
        <p:spPr>
          <a:xfrm>
            <a:off x="502920" y="2157984"/>
            <a:ext cx="1938528" cy="73152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8206CB-02ED-683A-1A29-E2E102D830BA}"/>
              </a:ext>
            </a:extLst>
          </p:cNvPr>
          <p:cNvSpPr txBox="1"/>
          <p:nvPr/>
        </p:nvSpPr>
        <p:spPr>
          <a:xfrm>
            <a:off x="621792" y="2350008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050" b="1">
                <a:solidFill>
                  <a:srgbClr val="F8FAFC"/>
                </a:solidFill>
                <a:latin typeface="Aptos Display" panose="020B0004020202020204" pitchFamily="34" charset="0"/>
              </a:rPr>
              <a:t>BUSINESS INTENT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EE3E4F-A473-803F-3DC5-40F5666895A0}"/>
              </a:ext>
            </a:extLst>
          </p:cNvPr>
          <p:cNvSpPr txBox="1"/>
          <p:nvPr/>
        </p:nvSpPr>
        <p:spPr>
          <a:xfrm>
            <a:off x="621792" y="2706624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>
                <a:solidFill>
                  <a:srgbClr val="A7B3C7"/>
                </a:solidFill>
                <a:latin typeface="Aptos" panose="020B0004020202020204" pitchFamily="34" charset="0"/>
              </a:rPr>
              <a:t>Concept + audience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C53F710-B907-F145-9DDD-410E958BF79C}"/>
              </a:ext>
            </a:extLst>
          </p:cNvPr>
          <p:cNvCxnSpPr/>
          <p:nvPr/>
        </p:nvCxnSpPr>
        <p:spPr>
          <a:xfrm>
            <a:off x="2450592" y="2660904"/>
            <a:ext cx="274320" cy="0"/>
          </a:xfrm>
          <a:prstGeom prst="line">
            <a:avLst/>
          </a:prstGeom>
          <a:ln w="1778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71C0DCE-1C2F-7701-AA8C-E1BB9D79AADA}"/>
              </a:ext>
            </a:extLst>
          </p:cNvPr>
          <p:cNvSpPr/>
          <p:nvPr/>
        </p:nvSpPr>
        <p:spPr>
          <a:xfrm>
            <a:off x="2788920" y="2157984"/>
            <a:ext cx="1938528" cy="1005840"/>
          </a:xfrm>
          <a:prstGeom prst="roundRect">
            <a:avLst/>
          </a:prstGeom>
          <a:solidFill>
            <a:srgbClr val="131A26"/>
          </a:solidFill>
          <a:ln w="1651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672585-2F61-0CED-2350-4C3EB8A95018}"/>
              </a:ext>
            </a:extLst>
          </p:cNvPr>
          <p:cNvSpPr/>
          <p:nvPr/>
        </p:nvSpPr>
        <p:spPr>
          <a:xfrm>
            <a:off x="2788920" y="2157984"/>
            <a:ext cx="1938528" cy="73152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C49B37-1DDE-689C-53D3-90EA5E6295D0}"/>
              </a:ext>
            </a:extLst>
          </p:cNvPr>
          <p:cNvSpPr txBox="1"/>
          <p:nvPr/>
        </p:nvSpPr>
        <p:spPr>
          <a:xfrm>
            <a:off x="2907792" y="2350008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050" b="1">
                <a:solidFill>
                  <a:srgbClr val="F8FAFC"/>
                </a:solidFill>
                <a:latin typeface="Aptos Display" panose="020B0004020202020204" pitchFamily="34" charset="0"/>
              </a:rPr>
              <a:t>AI CREATIVE CREW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FA4447-44A0-2E6C-E90C-561848FE2408}"/>
              </a:ext>
            </a:extLst>
          </p:cNvPr>
          <p:cNvSpPr txBox="1"/>
          <p:nvPr/>
        </p:nvSpPr>
        <p:spPr>
          <a:xfrm>
            <a:off x="2907792" y="2706624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>
                <a:solidFill>
                  <a:srgbClr val="A7B3C7"/>
                </a:solidFill>
                <a:latin typeface="Aptos" panose="020B0004020202020204" pitchFamily="34" charset="0"/>
              </a:rPr>
              <a:t>Plans + variants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0692822-09BD-706E-DB1D-ABB9DA859170}"/>
              </a:ext>
            </a:extLst>
          </p:cNvPr>
          <p:cNvCxnSpPr/>
          <p:nvPr/>
        </p:nvCxnSpPr>
        <p:spPr>
          <a:xfrm>
            <a:off x="4736592" y="2660904"/>
            <a:ext cx="274320" cy="0"/>
          </a:xfrm>
          <a:prstGeom prst="line">
            <a:avLst/>
          </a:prstGeom>
          <a:ln w="1778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AD84D4E-0034-E1BD-7861-797B9CC9C748}"/>
              </a:ext>
            </a:extLst>
          </p:cNvPr>
          <p:cNvSpPr/>
          <p:nvPr/>
        </p:nvSpPr>
        <p:spPr>
          <a:xfrm>
            <a:off x="5074920" y="2157984"/>
            <a:ext cx="1938528" cy="1005840"/>
          </a:xfrm>
          <a:prstGeom prst="roundRect">
            <a:avLst/>
          </a:prstGeom>
          <a:solidFill>
            <a:srgbClr val="131A26"/>
          </a:solidFill>
          <a:ln w="16510">
            <a:solidFill>
              <a:srgbClr val="818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A499A0-C660-F48B-8018-FA9BA06757B4}"/>
              </a:ext>
            </a:extLst>
          </p:cNvPr>
          <p:cNvSpPr/>
          <p:nvPr/>
        </p:nvSpPr>
        <p:spPr>
          <a:xfrm>
            <a:off x="5074920" y="2157984"/>
            <a:ext cx="1938528" cy="73152"/>
          </a:xfrm>
          <a:prstGeom prst="rect">
            <a:avLst/>
          </a:prstGeom>
          <a:solidFill>
            <a:srgbClr val="818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926B66-1211-D807-1DB1-F9FBC55E898B}"/>
              </a:ext>
            </a:extLst>
          </p:cNvPr>
          <p:cNvSpPr txBox="1"/>
          <p:nvPr/>
        </p:nvSpPr>
        <p:spPr>
          <a:xfrm>
            <a:off x="5193792" y="2350008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050" b="1">
                <a:solidFill>
                  <a:srgbClr val="F8FAFC"/>
                </a:solidFill>
                <a:latin typeface="Aptos Display" panose="020B0004020202020204" pitchFamily="34" charset="0"/>
              </a:rPr>
              <a:t>STORYBOARD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5D21CC-E85A-B16E-EA04-11E974F8401A}"/>
              </a:ext>
            </a:extLst>
          </p:cNvPr>
          <p:cNvSpPr txBox="1"/>
          <p:nvPr/>
        </p:nvSpPr>
        <p:spPr>
          <a:xfrm>
            <a:off x="5193792" y="2706624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>
                <a:solidFill>
                  <a:srgbClr val="A7B3C7"/>
                </a:solidFill>
                <a:latin typeface="Aptos" panose="020B0004020202020204" pitchFamily="34" charset="0"/>
              </a:rPr>
              <a:t>Timed scene decisions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B9B86B1-BA55-DE55-1A73-650038A62066}"/>
              </a:ext>
            </a:extLst>
          </p:cNvPr>
          <p:cNvCxnSpPr/>
          <p:nvPr/>
        </p:nvCxnSpPr>
        <p:spPr>
          <a:xfrm>
            <a:off x="7022592" y="2660904"/>
            <a:ext cx="274320" cy="0"/>
          </a:xfrm>
          <a:prstGeom prst="line">
            <a:avLst/>
          </a:prstGeom>
          <a:ln w="1778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7C8FAFE-26F4-3997-1DC8-BF8DBBC2DAB8}"/>
              </a:ext>
            </a:extLst>
          </p:cNvPr>
          <p:cNvSpPr/>
          <p:nvPr/>
        </p:nvSpPr>
        <p:spPr>
          <a:xfrm>
            <a:off x="7360920" y="2157984"/>
            <a:ext cx="1938528" cy="1005840"/>
          </a:xfrm>
          <a:prstGeom prst="roundRect">
            <a:avLst/>
          </a:prstGeom>
          <a:solidFill>
            <a:srgbClr val="131A26"/>
          </a:solidFill>
          <a:ln w="1651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65BB0A-EBEC-9EC8-1311-88CA57DB6403}"/>
              </a:ext>
            </a:extLst>
          </p:cNvPr>
          <p:cNvSpPr/>
          <p:nvPr/>
        </p:nvSpPr>
        <p:spPr>
          <a:xfrm>
            <a:off x="7360920" y="2157984"/>
            <a:ext cx="1938528" cy="73152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0AFAA1-19FB-5BAA-40EE-42D402A06C02}"/>
              </a:ext>
            </a:extLst>
          </p:cNvPr>
          <p:cNvSpPr txBox="1"/>
          <p:nvPr/>
        </p:nvSpPr>
        <p:spPr>
          <a:xfrm>
            <a:off x="7479792" y="2350008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050" b="1">
                <a:solidFill>
                  <a:srgbClr val="F8FAFC"/>
                </a:solidFill>
                <a:latin typeface="Aptos Display" panose="020B0004020202020204" pitchFamily="34" charset="0"/>
              </a:rPr>
              <a:t>WAN2GP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7C1885-BDA9-AC39-44A1-DAF2AD451E63}"/>
              </a:ext>
            </a:extLst>
          </p:cNvPr>
          <p:cNvSpPr txBox="1"/>
          <p:nvPr/>
        </p:nvSpPr>
        <p:spPr>
          <a:xfrm>
            <a:off x="7479792" y="2706624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>
                <a:solidFill>
                  <a:srgbClr val="A7B3C7"/>
                </a:solidFill>
                <a:latin typeface="Aptos" panose="020B0004020202020204" pitchFamily="34" charset="0"/>
              </a:rPr>
              <a:t>Keyframes + clips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19B062A-74FF-3104-1294-A3DA87A309F3}"/>
              </a:ext>
            </a:extLst>
          </p:cNvPr>
          <p:cNvCxnSpPr/>
          <p:nvPr/>
        </p:nvCxnSpPr>
        <p:spPr>
          <a:xfrm>
            <a:off x="9308592" y="2660904"/>
            <a:ext cx="274320" cy="0"/>
          </a:xfrm>
          <a:prstGeom prst="line">
            <a:avLst/>
          </a:prstGeom>
          <a:ln w="1778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763A7EF-BD19-5301-5321-B8B7FCE3D2A0}"/>
              </a:ext>
            </a:extLst>
          </p:cNvPr>
          <p:cNvSpPr/>
          <p:nvPr/>
        </p:nvSpPr>
        <p:spPr>
          <a:xfrm>
            <a:off x="9646920" y="2157984"/>
            <a:ext cx="1938528" cy="1005840"/>
          </a:xfrm>
          <a:prstGeom prst="roundRect">
            <a:avLst/>
          </a:prstGeom>
          <a:solidFill>
            <a:srgbClr val="131A26"/>
          </a:solidFill>
          <a:ln w="1651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1CD507-6911-6C6C-622F-3664E97EA213}"/>
              </a:ext>
            </a:extLst>
          </p:cNvPr>
          <p:cNvSpPr/>
          <p:nvPr/>
        </p:nvSpPr>
        <p:spPr>
          <a:xfrm>
            <a:off x="9646920" y="2157984"/>
            <a:ext cx="1938528" cy="73152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960349-60CA-8468-C3FC-49959799FA96}"/>
              </a:ext>
            </a:extLst>
          </p:cNvPr>
          <p:cNvSpPr txBox="1"/>
          <p:nvPr/>
        </p:nvSpPr>
        <p:spPr>
          <a:xfrm>
            <a:off x="9765792" y="2350008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050" b="1">
                <a:solidFill>
                  <a:srgbClr val="F8FAFC"/>
                </a:solidFill>
                <a:latin typeface="Aptos Display" panose="020B0004020202020204" pitchFamily="34" charset="0"/>
              </a:rPr>
              <a:t>APPROVED PACKAGE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8D3DFB-B525-4673-E8D5-F71C0D8D433B}"/>
              </a:ext>
            </a:extLst>
          </p:cNvPr>
          <p:cNvSpPr txBox="1"/>
          <p:nvPr/>
        </p:nvSpPr>
        <p:spPr>
          <a:xfrm>
            <a:off x="9765792" y="2706624"/>
            <a:ext cx="17007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>
                <a:solidFill>
                  <a:srgbClr val="A7B3C7"/>
                </a:solidFill>
                <a:latin typeface="Aptos" panose="020B0004020202020204" pitchFamily="34" charset="0"/>
              </a:rPr>
              <a:t>Cut + manifests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A0E35D-AF27-CF43-49AA-7A5BE72844F7}"/>
              </a:ext>
            </a:extLst>
          </p:cNvPr>
          <p:cNvSpPr txBox="1"/>
          <p:nvPr/>
        </p:nvSpPr>
        <p:spPr>
          <a:xfrm>
            <a:off x="502920" y="3538728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000" b="1">
                <a:solidFill>
                  <a:srgbClr val="38BDF8"/>
                </a:solidFill>
                <a:latin typeface="Aptos" panose="020B0004020202020204" pitchFamily="34" charset="0"/>
              </a:rPr>
              <a:t>BUSINESS VALUE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301B6F7-A56B-A6D4-0B86-1010F30B7604}"/>
              </a:ext>
            </a:extLst>
          </p:cNvPr>
          <p:cNvSpPr/>
          <p:nvPr/>
        </p:nvSpPr>
        <p:spPr>
          <a:xfrm>
            <a:off x="502920" y="3840480"/>
            <a:ext cx="2587752" cy="868680"/>
          </a:xfrm>
          <a:prstGeom prst="roundRect">
            <a:avLst/>
          </a:prstGeom>
          <a:solidFill>
            <a:srgbClr val="131A26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E23FEC9-F9F5-F9FB-16DB-1D6753A5E0D3}"/>
              </a:ext>
            </a:extLst>
          </p:cNvPr>
          <p:cNvSpPr/>
          <p:nvPr/>
        </p:nvSpPr>
        <p:spPr>
          <a:xfrm>
            <a:off x="502920" y="3840480"/>
            <a:ext cx="64008" cy="868680"/>
          </a:xfrm>
          <a:prstGeom prst="rect">
            <a:avLst/>
          </a:prstGeom>
          <a:solidFill>
            <a:srgbClr val="38B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93218F-A7D6-516E-D70B-4F1745094523}"/>
              </a:ext>
            </a:extLst>
          </p:cNvPr>
          <p:cNvSpPr txBox="1"/>
          <p:nvPr/>
        </p:nvSpPr>
        <p:spPr>
          <a:xfrm>
            <a:off x="685800" y="3950208"/>
            <a:ext cx="227685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Align earlier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A00D5F-3070-B88A-03E9-A38B4572042D}"/>
              </a:ext>
            </a:extLst>
          </p:cNvPr>
          <p:cNvSpPr txBox="1"/>
          <p:nvPr/>
        </p:nvSpPr>
        <p:spPr>
          <a:xfrm>
            <a:off x="685800" y="4233672"/>
            <a:ext cx="227685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80">
                <a:solidFill>
                  <a:srgbClr val="A7B3C7"/>
                </a:solidFill>
                <a:latin typeface="Aptos" panose="020B0004020202020204" pitchFamily="34" charset="0"/>
              </a:rPr>
              <a:t>Select a creative direction and inspect the plan before committing render time.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CD0D96B-AE41-3F02-1023-AD5FD5C1C870}"/>
              </a:ext>
            </a:extLst>
          </p:cNvPr>
          <p:cNvSpPr/>
          <p:nvPr/>
        </p:nvSpPr>
        <p:spPr>
          <a:xfrm>
            <a:off x="3273552" y="3840480"/>
            <a:ext cx="2587752" cy="868680"/>
          </a:xfrm>
          <a:prstGeom prst="roundRect">
            <a:avLst/>
          </a:prstGeom>
          <a:solidFill>
            <a:srgbClr val="131A26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0B7EE0A-DE85-4CBC-E520-96EC4237E790}"/>
              </a:ext>
            </a:extLst>
          </p:cNvPr>
          <p:cNvSpPr/>
          <p:nvPr/>
        </p:nvSpPr>
        <p:spPr>
          <a:xfrm>
            <a:off x="3273552" y="3840480"/>
            <a:ext cx="64008" cy="868680"/>
          </a:xfrm>
          <a:prstGeom prst="rect">
            <a:avLst/>
          </a:prstGeom>
          <a:solidFill>
            <a:srgbClr val="818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250D47-4CFB-613C-7446-22EC54413187}"/>
              </a:ext>
            </a:extLst>
          </p:cNvPr>
          <p:cNvSpPr txBox="1"/>
          <p:nvPr/>
        </p:nvSpPr>
        <p:spPr>
          <a:xfrm>
            <a:off x="3456432" y="3950208"/>
            <a:ext cx="227685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Reduce rework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7A0B85-2A19-466F-265B-1492A3C6D1A8}"/>
              </a:ext>
            </a:extLst>
          </p:cNvPr>
          <p:cNvSpPr txBox="1"/>
          <p:nvPr/>
        </p:nvSpPr>
        <p:spPr>
          <a:xfrm>
            <a:off x="3456432" y="4233672"/>
            <a:ext cx="227685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80">
                <a:solidFill>
                  <a:srgbClr val="A7B3C7"/>
                </a:solidFill>
                <a:latin typeface="Aptos" panose="020B0004020202020204" pitchFamily="34" charset="0"/>
              </a:rPr>
              <a:t>Edit one scene or rewrite one prompt pass without rebuilding the whole project.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665833C-A5BF-711F-DD1C-84A2ECF6A709}"/>
              </a:ext>
            </a:extLst>
          </p:cNvPr>
          <p:cNvSpPr/>
          <p:nvPr/>
        </p:nvSpPr>
        <p:spPr>
          <a:xfrm>
            <a:off x="6044184" y="3840480"/>
            <a:ext cx="2587752" cy="868680"/>
          </a:xfrm>
          <a:prstGeom prst="roundRect">
            <a:avLst/>
          </a:prstGeom>
          <a:solidFill>
            <a:srgbClr val="131A26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314D0F7-069F-C3AD-2265-6AD869E04EBA}"/>
              </a:ext>
            </a:extLst>
          </p:cNvPr>
          <p:cNvSpPr/>
          <p:nvPr/>
        </p:nvSpPr>
        <p:spPr>
          <a:xfrm>
            <a:off x="6044184" y="3840480"/>
            <a:ext cx="64008" cy="86868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2BBCD3-DF07-15D3-4FA0-8EC9B2261B23}"/>
              </a:ext>
            </a:extLst>
          </p:cNvPr>
          <p:cNvSpPr txBox="1"/>
          <p:nvPr/>
        </p:nvSpPr>
        <p:spPr>
          <a:xfrm>
            <a:off x="6227064" y="3950208"/>
            <a:ext cx="227685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Protect consistency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52E0ED-9ECB-0D00-C622-FB06665CA650}"/>
              </a:ext>
            </a:extLst>
          </p:cNvPr>
          <p:cNvSpPr txBox="1"/>
          <p:nvPr/>
        </p:nvSpPr>
        <p:spPr>
          <a:xfrm>
            <a:off x="6227064" y="4233672"/>
            <a:ext cx="227685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80">
                <a:solidFill>
                  <a:srgbClr val="A7B3C7"/>
                </a:solidFill>
                <a:latin typeface="Aptos" panose="020B0004020202020204" pitchFamily="34" charset="0"/>
              </a:rPr>
              <a:t>World, camera, cast, wardrobe and continuity decisions follow the scene.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B68A608-DF2F-FBFC-D919-CDF68E5E0935}"/>
              </a:ext>
            </a:extLst>
          </p:cNvPr>
          <p:cNvSpPr/>
          <p:nvPr/>
        </p:nvSpPr>
        <p:spPr>
          <a:xfrm>
            <a:off x="8814816" y="3840480"/>
            <a:ext cx="2587752" cy="868680"/>
          </a:xfrm>
          <a:prstGeom prst="roundRect">
            <a:avLst/>
          </a:prstGeom>
          <a:solidFill>
            <a:srgbClr val="131A26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2AAB5BD-9CA3-A5F9-B2CA-DCDCA44DB765}"/>
              </a:ext>
            </a:extLst>
          </p:cNvPr>
          <p:cNvSpPr/>
          <p:nvPr/>
        </p:nvSpPr>
        <p:spPr>
          <a:xfrm>
            <a:off x="8814816" y="3840480"/>
            <a:ext cx="64008" cy="86868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FFAA76-D13F-23F9-9681-0068B8B8BCE0}"/>
              </a:ext>
            </a:extLst>
          </p:cNvPr>
          <p:cNvSpPr txBox="1"/>
          <p:nvPr/>
        </p:nvSpPr>
        <p:spPr>
          <a:xfrm>
            <a:off x="8997696" y="3950208"/>
            <a:ext cx="227685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00" b="1">
                <a:solidFill>
                  <a:srgbClr val="F8FAFC"/>
                </a:solidFill>
                <a:latin typeface="Aptos Display" panose="020B0004020202020204" pitchFamily="34" charset="0"/>
              </a:rPr>
              <a:t>Keep accountability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BCC185-D54F-24BA-4DCB-9501B74A7835}"/>
              </a:ext>
            </a:extLst>
          </p:cNvPr>
          <p:cNvSpPr txBox="1"/>
          <p:nvPr/>
        </p:nvSpPr>
        <p:spPr>
          <a:xfrm>
            <a:off x="8997696" y="4233672"/>
            <a:ext cx="227685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80">
                <a:solidFill>
                  <a:srgbClr val="A7B3C7"/>
                </a:solidFill>
                <a:latin typeface="Aptos" panose="020B0004020202020204" pitchFamily="34" charset="0"/>
              </a:rPr>
              <a:t>Attempts, QC findings and approvals remain attached to the production record.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390D47E-52BC-296C-393D-2CDBC712B656}"/>
              </a:ext>
            </a:extLst>
          </p:cNvPr>
          <p:cNvSpPr/>
          <p:nvPr/>
        </p:nvSpPr>
        <p:spPr>
          <a:xfrm>
            <a:off x="502920" y="5020056"/>
            <a:ext cx="10972800" cy="804672"/>
          </a:xfrm>
          <a:prstGeom prst="roundRect">
            <a:avLst/>
          </a:prstGeom>
          <a:solidFill>
            <a:srgbClr val="182131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E32367-39F5-A811-C73C-0A42F1CAF04E}"/>
              </a:ext>
            </a:extLst>
          </p:cNvPr>
          <p:cNvSpPr txBox="1"/>
          <p:nvPr/>
        </p:nvSpPr>
        <p:spPr>
          <a:xfrm>
            <a:off x="713232" y="5266944"/>
            <a:ext cx="14173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50" b="1">
                <a:solidFill>
                  <a:srgbClr val="818CF8"/>
                </a:solidFill>
                <a:latin typeface="Aptos" panose="020B0004020202020204" pitchFamily="34" charset="0"/>
              </a:rPr>
              <a:t>HUMAN CHECKPOINTS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AB14D28D-5B13-19A6-AF4F-114B2E2C1A0E}"/>
              </a:ext>
            </a:extLst>
          </p:cNvPr>
          <p:cNvSpPr/>
          <p:nvPr/>
        </p:nvSpPr>
        <p:spPr>
          <a:xfrm>
            <a:off x="2395728" y="5202936"/>
            <a:ext cx="1417320" cy="310896"/>
          </a:xfrm>
          <a:prstGeom prst="roundRect">
            <a:avLst/>
          </a:prstGeom>
          <a:solidFill>
            <a:srgbClr val="0F1520"/>
          </a:solidFill>
          <a:ln w="9525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5B0C1E-42FC-1150-DBB2-4E61D7CE4D70}"/>
              </a:ext>
            </a:extLst>
          </p:cNvPr>
          <p:cNvSpPr txBox="1"/>
          <p:nvPr/>
        </p:nvSpPr>
        <p:spPr>
          <a:xfrm>
            <a:off x="2395728" y="5202936"/>
            <a:ext cx="14173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F8FAFC"/>
                </a:solidFill>
                <a:latin typeface="Aptos" panose="020B0004020202020204" pitchFamily="34" charset="0"/>
              </a:rPr>
              <a:t>Select direction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16B27C4-1929-3562-EF60-AC57BEC672FD}"/>
              </a:ext>
            </a:extLst>
          </p:cNvPr>
          <p:cNvCxnSpPr/>
          <p:nvPr/>
        </p:nvCxnSpPr>
        <p:spPr>
          <a:xfrm>
            <a:off x="3913632" y="5358384"/>
            <a:ext cx="320040" cy="0"/>
          </a:xfrm>
          <a:prstGeom prst="line">
            <a:avLst/>
          </a:prstGeom>
          <a:ln w="1524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6757F235-CD1B-0F02-9B32-2C1AA1BAE4D8}"/>
              </a:ext>
            </a:extLst>
          </p:cNvPr>
          <p:cNvSpPr/>
          <p:nvPr/>
        </p:nvSpPr>
        <p:spPr>
          <a:xfrm>
            <a:off x="4325112" y="5202936"/>
            <a:ext cx="1243584" cy="310896"/>
          </a:xfrm>
          <a:prstGeom prst="roundRect">
            <a:avLst/>
          </a:prstGeom>
          <a:solidFill>
            <a:srgbClr val="0F1520"/>
          </a:solidFill>
          <a:ln w="9525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0C385D3-A743-AD4A-ABBA-AA1F3AE35982}"/>
              </a:ext>
            </a:extLst>
          </p:cNvPr>
          <p:cNvSpPr txBox="1"/>
          <p:nvPr/>
        </p:nvSpPr>
        <p:spPr>
          <a:xfrm>
            <a:off x="4325112" y="5202936"/>
            <a:ext cx="1243584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F8FAFC"/>
                </a:solidFill>
                <a:latin typeface="Aptos" panose="020B0004020202020204" pitchFamily="34" charset="0"/>
              </a:rPr>
              <a:t>Edit scene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0F5E4BB-0E44-60AB-623D-05EF5D3EB727}"/>
              </a:ext>
            </a:extLst>
          </p:cNvPr>
          <p:cNvCxnSpPr/>
          <p:nvPr/>
        </p:nvCxnSpPr>
        <p:spPr>
          <a:xfrm>
            <a:off x="5669280" y="5358384"/>
            <a:ext cx="320040" cy="0"/>
          </a:xfrm>
          <a:prstGeom prst="line">
            <a:avLst/>
          </a:prstGeom>
          <a:ln w="1524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AE22E98-2128-91CA-3097-6BFC25BE14D4}"/>
              </a:ext>
            </a:extLst>
          </p:cNvPr>
          <p:cNvSpPr/>
          <p:nvPr/>
        </p:nvSpPr>
        <p:spPr>
          <a:xfrm>
            <a:off x="6080760" y="5202936"/>
            <a:ext cx="1435608" cy="310896"/>
          </a:xfrm>
          <a:prstGeom prst="roundRect">
            <a:avLst/>
          </a:prstGeom>
          <a:solidFill>
            <a:srgbClr val="0F1520"/>
          </a:solidFill>
          <a:ln w="9525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6528C27-B17E-2FEC-0B3C-7C90F4B7C172}"/>
              </a:ext>
            </a:extLst>
          </p:cNvPr>
          <p:cNvSpPr txBox="1"/>
          <p:nvPr/>
        </p:nvSpPr>
        <p:spPr>
          <a:xfrm>
            <a:off x="6080760" y="5202936"/>
            <a:ext cx="143560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F8FAFC"/>
                </a:solidFill>
                <a:latin typeface="Aptos" panose="020B0004020202020204" pitchFamily="34" charset="0"/>
              </a:rPr>
              <a:t>Review attempts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59F94FF-C9ED-95FA-8F00-750207FF0647}"/>
              </a:ext>
            </a:extLst>
          </p:cNvPr>
          <p:cNvCxnSpPr/>
          <p:nvPr/>
        </p:nvCxnSpPr>
        <p:spPr>
          <a:xfrm>
            <a:off x="7616952" y="5358384"/>
            <a:ext cx="320040" cy="0"/>
          </a:xfrm>
          <a:prstGeom prst="line">
            <a:avLst/>
          </a:prstGeom>
          <a:ln w="1524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1F997DFC-8AA1-CB6A-CCC9-5190F0A28B34}"/>
              </a:ext>
            </a:extLst>
          </p:cNvPr>
          <p:cNvSpPr/>
          <p:nvPr/>
        </p:nvSpPr>
        <p:spPr>
          <a:xfrm>
            <a:off x="8028432" y="5202936"/>
            <a:ext cx="1353312" cy="310896"/>
          </a:xfrm>
          <a:prstGeom prst="roundRect">
            <a:avLst/>
          </a:prstGeom>
          <a:solidFill>
            <a:srgbClr val="0F1520"/>
          </a:solidFill>
          <a:ln w="9525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A0C6A21-ADF1-A099-E67E-0CB27B197B28}"/>
              </a:ext>
            </a:extLst>
          </p:cNvPr>
          <p:cNvSpPr txBox="1"/>
          <p:nvPr/>
        </p:nvSpPr>
        <p:spPr>
          <a:xfrm>
            <a:off x="8028432" y="5202936"/>
            <a:ext cx="13533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F8FAFC"/>
                </a:solidFill>
                <a:latin typeface="Aptos" panose="020B0004020202020204" pitchFamily="34" charset="0"/>
              </a:rPr>
              <a:t>Approve clip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6F663BB-3446-BB9B-BD22-F16354EBCD88}"/>
              </a:ext>
            </a:extLst>
          </p:cNvPr>
          <p:cNvCxnSpPr/>
          <p:nvPr/>
        </p:nvCxnSpPr>
        <p:spPr>
          <a:xfrm>
            <a:off x="9482328" y="5358384"/>
            <a:ext cx="320040" cy="0"/>
          </a:xfrm>
          <a:prstGeom prst="line">
            <a:avLst/>
          </a:prstGeom>
          <a:ln w="1524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91FD26B-300D-01AF-9AAC-F0C5CC0DA0F8}"/>
              </a:ext>
            </a:extLst>
          </p:cNvPr>
          <p:cNvSpPr/>
          <p:nvPr/>
        </p:nvSpPr>
        <p:spPr>
          <a:xfrm>
            <a:off x="9893808" y="5202936"/>
            <a:ext cx="1005840" cy="310896"/>
          </a:xfrm>
          <a:prstGeom prst="roundRect">
            <a:avLst/>
          </a:prstGeom>
          <a:solidFill>
            <a:srgbClr val="0C342B"/>
          </a:solidFill>
          <a:ln w="9525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7CAD6F4-0B6F-B4D9-9237-D747C442B3BA}"/>
              </a:ext>
            </a:extLst>
          </p:cNvPr>
          <p:cNvSpPr txBox="1"/>
          <p:nvPr/>
        </p:nvSpPr>
        <p:spPr>
          <a:xfrm>
            <a:off x="9893808" y="5202936"/>
            <a:ext cx="10058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1000" b="1">
                <a:solidFill>
                  <a:srgbClr val="10B981"/>
                </a:solidFill>
                <a:latin typeface="Aptos" panose="020B0004020202020204" pitchFamily="34" charset="0"/>
              </a:rPr>
              <a:t>Assemble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6BB150E-BFB7-AE80-30CD-1FBBA162627C}"/>
              </a:ext>
            </a:extLst>
          </p:cNvPr>
          <p:cNvSpPr txBox="1"/>
          <p:nvPr/>
        </p:nvSpPr>
        <p:spPr>
          <a:xfrm>
            <a:off x="1170432" y="6044184"/>
            <a:ext cx="98755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 b="1">
                <a:solidFill>
                  <a:srgbClr val="A7B3C7"/>
                </a:solidFill>
                <a:latin typeface="Aptos" panose="020B0004020202020204" pitchFamily="34" charset="0"/>
              </a:rPr>
              <a:t>LOCAL-FIRST OPTION  |  DEMO WITHOUT EXTERNAL SERVICES  |  MODEL BACKENDS REMAIN SWAPPABLE</a:t>
            </a:r>
          </a:p>
        </p:txBody>
      </p:sp>
    </p:spTree>
    <p:extLst>
      <p:ext uri="{BB962C8B-B14F-4D97-AF65-F5344CB8AC3E}">
        <p14:creationId xmlns:p14="http://schemas.microsoft.com/office/powerpoint/2010/main" val="116259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Microsoft Office PowerPoint</Application>
  <PresentationFormat>Custom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StoryForgeAI</dc:creator>
  <cp:lastModifiedBy>StoryForgeAI</cp:lastModifiedBy>
  <cp:revision>1</cp:revision>
  <dcterms:created xsi:type="dcterms:W3CDTF">2026-09-02T13:30:33Z</dcterms:created>
  <dcterms:modified xsi:type="dcterms:W3CDTF">2026-09-02T13:30:33Z</dcterms:modified>
</cp:coreProperties>
</file>