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060A-9E81-93E4-3C6F-407A81EE4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CDC93-A69E-B0CD-EF17-F224A7157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BCD79-2489-E381-E760-DE81BD1E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F4B4-0EE8-E61E-7672-63E20BE1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17E9C-880E-FBB6-F3F2-59FC176E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4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C5CA-2602-73F6-4FA7-E5176964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53E96-2DFE-5888-47D2-45F5C552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6981D-AC40-1917-108A-0B7BE47D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D21F0-13F2-9189-7FCF-1F32B106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519B7-9FC1-77A1-D71C-BF381AF3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D37F-BC8E-5C01-65BE-B0CC0F8A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64271-55C2-8C54-8D4E-CD6E06057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6B27-770F-923C-D296-4DBC5879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3374-503F-0FF5-0D55-F5C63497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BDEE4-24C0-99DA-A2D9-1F68E5A5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7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06D-011F-B754-DA67-B6971001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E55CD-92A3-8A6B-721C-7CF190128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0E67-540F-CA7D-CB52-4EE161A90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64ECD-0EC6-504C-05A4-78D80F2B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708F8-EEE6-0C2C-2061-69F6F3C4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E49C7-6508-0221-C910-BDEC50D8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5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4332-871A-E4E8-92EB-5797CBD6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565BC-8173-0106-807E-3FF5725A0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78423-451E-862E-5E0E-0A737274E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8ED6A-7D28-8F49-9031-01298C387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194EA-6CB5-FAB2-642E-9754B89BD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F2E2C-47FC-A008-1394-627B4C47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61E3E-61AF-9027-3EE9-8E64192D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E9845-9323-C230-93D2-350C2A41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9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25CA-3E08-435D-260D-33E88F0F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FCD1A-6C6E-694D-FEC9-EF74E6D3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FC60D-A65F-4863-FE36-660BEEA0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1F836-FA62-5CA8-14C4-A5929A6E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7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A1885-6CA6-B8B1-EA36-F9F3EB26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58FBE-5F86-4787-8A04-7D2EF52C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165EE-A9D2-14C6-E252-42EBBA0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7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6C33-A266-96E9-18C8-59C64E78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51B63-5ACA-1486-CF83-D1D4D726D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7E478-540C-61F2-8374-2D03349FA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244C5-BF53-9FEF-42A4-5C3652D2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776FB-E33D-7738-2B07-B6EC7C7C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F9A9-D335-A946-559C-5840417D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FAB7-7F75-CD5F-E937-70EA250B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60993-797B-AD22-C30B-4E8A56582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910DE-FE4C-B27F-CFD5-539946A41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E1D40-90AB-54B4-F0D2-635F65DD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011DB-351C-3B2A-1963-5ADEDF48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FB243-3B3C-02E8-9A0A-C9893AB8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3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FD9F-7400-7196-D470-4D67461B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689E9-666D-6D54-C605-6BDBF74BC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A5BCF-950B-DEFE-4F50-A09BC375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4E72-3AA8-CCB9-3303-D964F86C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3F05-052D-03FE-BE10-1A3A4281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4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D3EA9-6036-A400-1E46-E93400729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944C2-AB0D-4E41-1669-DF6BDEE9C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5A4C9-8B89-69EA-50F0-B2B94CBC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A753F-154F-6C84-C67C-23510ED7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455E6-2140-8D30-4EA5-E436E2AA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2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16A71-DF21-E45C-C553-376102BA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DCCCD-D6C2-6E46-3F13-D3C977399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EC975-C10F-AEF0-B771-4E3CD60D4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37E10-0FAB-4C11-BC31-398964CA273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02A4-9C38-21F3-0B39-E3CD8346F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4EE1-9D62-3DAD-ED90-CF5EBF208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1B193-96D9-4870-93DD-CF4073C3B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5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4BB964-18FF-9943-C7F6-B6CC63A83D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5E911-F826-5B6F-F78A-E461E35DF6F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4998E-F234-5141-26D2-3BD4228C0D4B}"/>
              </a:ext>
            </a:extLst>
          </p:cNvPr>
          <p:cNvSpPr txBox="1"/>
          <p:nvPr/>
        </p:nvSpPr>
        <p:spPr>
          <a:xfrm>
            <a:off x="566928" y="512064"/>
            <a:ext cx="21945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38BDF8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49B522-2CE5-083C-B20A-6752108A7958}"/>
              </a:ext>
            </a:extLst>
          </p:cNvPr>
          <p:cNvSpPr txBox="1"/>
          <p:nvPr/>
        </p:nvSpPr>
        <p:spPr>
          <a:xfrm>
            <a:off x="566928" y="1298448"/>
            <a:ext cx="5394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F8FAFC"/>
                </a:solidFill>
                <a:latin typeface="Aptos Display" panose="020B0004020202020204" pitchFamily="34" charset="0"/>
              </a:rPr>
              <a:t>From one idea to an approved AI media package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C98C-6848-0908-C2CA-AAC3B20C8CBA}"/>
              </a:ext>
            </a:extLst>
          </p:cNvPr>
          <p:cNvSpPr txBox="1"/>
          <p:nvPr/>
        </p:nvSpPr>
        <p:spPr>
          <a:xfrm>
            <a:off x="566928" y="2770632"/>
            <a:ext cx="51389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A7B3C7"/>
                </a:solidFill>
                <a:latin typeface="Aptos" panose="020B0004020202020204" pitchFamily="34" charset="0"/>
              </a:rPr>
              <a:t>A local-first production workspace where specialized agents plan the story, write scene-level keyframe and video prompts, and orchestrate Wan2GP through MCP.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BA6050-75E3-285D-B42C-843C270D9A96}"/>
              </a:ext>
            </a:extLst>
          </p:cNvPr>
          <p:cNvSpPr/>
          <p:nvPr/>
        </p:nvSpPr>
        <p:spPr>
          <a:xfrm>
            <a:off x="566928" y="4087368"/>
            <a:ext cx="1600200" cy="310896"/>
          </a:xfrm>
          <a:prstGeom prst="roundRect">
            <a:avLst/>
          </a:prstGeom>
          <a:solidFill>
            <a:srgbClr val="12344A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4156E-27B9-D276-E5D1-D4A70076D7B8}"/>
              </a:ext>
            </a:extLst>
          </p:cNvPr>
          <p:cNvSpPr txBox="1"/>
          <p:nvPr/>
        </p:nvSpPr>
        <p:spPr>
          <a:xfrm>
            <a:off x="566928" y="4087368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AGENTIC PLANNING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88D72A-37EF-C66D-404D-8F2EBFCA78EE}"/>
              </a:ext>
            </a:extLst>
          </p:cNvPr>
          <p:cNvSpPr/>
          <p:nvPr/>
        </p:nvSpPr>
        <p:spPr>
          <a:xfrm>
            <a:off x="2276856" y="4087368"/>
            <a:ext cx="1572768" cy="310896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1FB98-EC43-8426-036F-7AA48494C463}"/>
              </a:ext>
            </a:extLst>
          </p:cNvPr>
          <p:cNvSpPr txBox="1"/>
          <p:nvPr/>
        </p:nvSpPr>
        <p:spPr>
          <a:xfrm>
            <a:off x="2276856" y="4087368"/>
            <a:ext cx="15727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SCENE CONTRACTS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64C871-670E-DC8F-D392-4CB00EFB7734}"/>
              </a:ext>
            </a:extLst>
          </p:cNvPr>
          <p:cNvSpPr/>
          <p:nvPr/>
        </p:nvSpPr>
        <p:spPr>
          <a:xfrm>
            <a:off x="3959352" y="4087368"/>
            <a:ext cx="1234440" cy="310896"/>
          </a:xfrm>
          <a:prstGeom prst="roundRect">
            <a:avLst/>
          </a:prstGeom>
          <a:solidFill>
            <a:srgbClr val="432A0B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C4C87-2608-D435-E414-647788BD45B4}"/>
              </a:ext>
            </a:extLst>
          </p:cNvPr>
          <p:cNvSpPr txBox="1"/>
          <p:nvPr/>
        </p:nvSpPr>
        <p:spPr>
          <a:xfrm>
            <a:off x="3959352" y="4087368"/>
            <a:ext cx="1234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59E0B"/>
                </a:solidFill>
                <a:latin typeface="Aptos" panose="020B0004020202020204" pitchFamily="34" charset="0"/>
              </a:rPr>
              <a:t>WAN2GP MCP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E53471-94F3-BEA0-255B-D30C90820902}"/>
              </a:ext>
            </a:extLst>
          </p:cNvPr>
          <p:cNvCxnSpPr/>
          <p:nvPr/>
        </p:nvCxnSpPr>
        <p:spPr>
          <a:xfrm>
            <a:off x="566928" y="4754880"/>
            <a:ext cx="4873752" cy="0"/>
          </a:xfrm>
          <a:prstGeom prst="line">
            <a:avLst/>
          </a:prstGeom>
          <a:ln w="1270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DADB2EC-A612-B5B5-24E8-DC4BB413F76B}"/>
              </a:ext>
            </a:extLst>
          </p:cNvPr>
          <p:cNvSpPr txBox="1"/>
          <p:nvPr/>
        </p:nvSpPr>
        <p:spPr>
          <a:xfrm>
            <a:off x="566928" y="4965192"/>
            <a:ext cx="43891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 panose="020B0004020202020204" pitchFamily="34" charset="0"/>
              </a:rPr>
              <a:t>Business and solution engineering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9E8610-2405-6498-4DD2-C7EF0067F734}"/>
              </a:ext>
            </a:extLst>
          </p:cNvPr>
          <p:cNvSpPr txBox="1"/>
          <p:nvPr/>
        </p:nvSpPr>
        <p:spPr>
          <a:xfrm>
            <a:off x="566928" y="5294376"/>
            <a:ext cx="44805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Editable PowerPoint + audience-specific infographics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47A5D5-F1F9-B960-21BD-86F56FAC158A}"/>
              </a:ext>
            </a:extLst>
          </p:cNvPr>
          <p:cNvSpPr/>
          <p:nvPr/>
        </p:nvSpPr>
        <p:spPr>
          <a:xfrm>
            <a:off x="6163056" y="566928"/>
            <a:ext cx="5440680" cy="546811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33CDAF-8FFB-A9EC-44CC-CF48D3DC7BD0}"/>
              </a:ext>
            </a:extLst>
          </p:cNvPr>
          <p:cNvSpPr/>
          <p:nvPr/>
        </p:nvSpPr>
        <p:spPr>
          <a:xfrm>
            <a:off x="6318504" y="749808"/>
            <a:ext cx="5129784" cy="43434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ED4615-5E26-C333-6997-DBA3D04B81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80" y="797308"/>
            <a:ext cx="5056632" cy="4248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AA0ED6-A5A1-8CBC-9B6E-1DE304617C6E}"/>
              </a:ext>
            </a:extLst>
          </p:cNvPr>
          <p:cNvSpPr txBox="1"/>
          <p:nvPr/>
        </p:nvSpPr>
        <p:spPr>
          <a:xfrm>
            <a:off x="6537960" y="5294376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SCENE-LEVEL 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1F3870-DBA7-BB20-3501-CC237B63516C}"/>
              </a:ext>
            </a:extLst>
          </p:cNvPr>
          <p:cNvSpPr txBox="1"/>
          <p:nvPr/>
        </p:nvSpPr>
        <p:spPr>
          <a:xfrm>
            <a:off x="6537960" y="5559552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Objective + camera + prompts + start/end keyframes + clip + approval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8811B-7EDB-210C-357A-DDF9D88BF77B}"/>
              </a:ext>
            </a:extLst>
          </p:cNvPr>
          <p:cNvSpPr txBox="1"/>
          <p:nvPr/>
        </p:nvSpPr>
        <p:spPr>
          <a:xfrm>
            <a:off x="566928" y="6336792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StoryForgeAI integrates with WanGP/Wan2GP as an independent media backend. Model licenses and commercial-use terms vary.</a:t>
            </a:r>
          </a:p>
        </p:txBody>
      </p:sp>
    </p:spTree>
    <p:extLst>
      <p:ext uri="{BB962C8B-B14F-4D97-AF65-F5344CB8AC3E}">
        <p14:creationId xmlns:p14="http://schemas.microsoft.com/office/powerpoint/2010/main" val="403478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6D2932-14FF-CB54-FDC6-4CC5A719EB8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AB346A-00F8-EB28-E67B-574F0D9140CA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F6906-8A7A-96F6-4727-72FC8046361A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0F06E-7FAA-8920-0A6A-48CF7740EA94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PRODUCT STORY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F55072-FCFD-E448-6A4D-875D3819F7DA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1379A3-4402-6BE3-2500-C70B3FE99F92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6CB39-3035-847B-536C-8AAF6CA402D7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34FE8-B624-1199-D8BB-B7933BDA5AFC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94EBF-E97B-8ADE-4DC6-2C2FA61F703D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A production system, not a one-shot prompt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18F32-028D-D3CD-2EFC-716F11064ABA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Creative intent becomes a chain of explicit, editable artifacts before GPU generation begins.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D4E417-F37A-2FD9-6BD9-DFC08736381E}"/>
              </a:ext>
            </a:extLst>
          </p:cNvPr>
          <p:cNvSpPr/>
          <p:nvPr/>
        </p:nvSpPr>
        <p:spPr>
          <a:xfrm>
            <a:off x="502920" y="2084832"/>
            <a:ext cx="1993392" cy="117043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A9697E-0311-1C5D-4060-ACD2B2FCCEF5}"/>
              </a:ext>
            </a:extLst>
          </p:cNvPr>
          <p:cNvSpPr/>
          <p:nvPr/>
        </p:nvSpPr>
        <p:spPr>
          <a:xfrm>
            <a:off x="649224" y="2231136"/>
            <a:ext cx="347472" cy="347472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D989B-4361-9F00-ACB6-477AA846F57E}"/>
              </a:ext>
            </a:extLst>
          </p:cNvPr>
          <p:cNvSpPr txBox="1"/>
          <p:nvPr/>
        </p:nvSpPr>
        <p:spPr>
          <a:xfrm>
            <a:off x="649224" y="2231136"/>
            <a:ext cx="3474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0F17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7D5EE-A2A5-3838-F8D9-9A102905B815}"/>
              </a:ext>
            </a:extLst>
          </p:cNvPr>
          <p:cNvSpPr txBox="1"/>
          <p:nvPr/>
        </p:nvSpPr>
        <p:spPr>
          <a:xfrm>
            <a:off x="1069848" y="221284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Intent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CE803-A786-7E54-B6F4-A48ECEE4A35A}"/>
              </a:ext>
            </a:extLst>
          </p:cNvPr>
          <p:cNvSpPr txBox="1"/>
          <p:nvPr/>
        </p:nvSpPr>
        <p:spPr>
          <a:xfrm>
            <a:off x="649224" y="2651760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sz="1050">
                <a:solidFill>
                  <a:srgbClr val="A7B3C7"/>
                </a:solidFill>
                <a:latin typeface="Aptos" panose="020B0004020202020204" pitchFamily="34" charset="0"/>
              </a:rPr>
              <a:t>Concept, duration, style, tone, audience</a:t>
            </a:r>
            <a:endParaRPr lang="en-US" sz="1050">
              <a:solidFill>
                <a:srgbClr val="A7B3C7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3D054-F6C8-0E19-8534-6925ACFD4399}"/>
              </a:ext>
            </a:extLst>
          </p:cNvPr>
          <p:cNvCxnSpPr/>
          <p:nvPr/>
        </p:nvCxnSpPr>
        <p:spPr>
          <a:xfrm>
            <a:off x="2505456" y="2679192"/>
            <a:ext cx="25603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21BC22-3ABA-129D-254F-FE8DD6E84E6A}"/>
              </a:ext>
            </a:extLst>
          </p:cNvPr>
          <p:cNvSpPr/>
          <p:nvPr/>
        </p:nvSpPr>
        <p:spPr>
          <a:xfrm>
            <a:off x="2807208" y="2084832"/>
            <a:ext cx="1993392" cy="117043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5F498D-A2BF-3113-D720-90911B92C838}"/>
              </a:ext>
            </a:extLst>
          </p:cNvPr>
          <p:cNvSpPr/>
          <p:nvPr/>
        </p:nvSpPr>
        <p:spPr>
          <a:xfrm>
            <a:off x="2953512" y="2231136"/>
            <a:ext cx="347472" cy="347472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B9421-B58A-D8E4-8B44-F3EF4A62F01E}"/>
              </a:ext>
            </a:extLst>
          </p:cNvPr>
          <p:cNvSpPr txBox="1"/>
          <p:nvPr/>
        </p:nvSpPr>
        <p:spPr>
          <a:xfrm>
            <a:off x="2953512" y="2231136"/>
            <a:ext cx="3474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0F17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08F95-3E27-6A48-75FF-B440753F9ACB}"/>
              </a:ext>
            </a:extLst>
          </p:cNvPr>
          <p:cNvSpPr txBox="1"/>
          <p:nvPr/>
        </p:nvSpPr>
        <p:spPr>
          <a:xfrm>
            <a:off x="3374136" y="221284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Creative plans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34B02-7E78-1BC6-1E55-AF40C0D1E1AA}"/>
              </a:ext>
            </a:extLst>
          </p:cNvPr>
          <p:cNvSpPr txBox="1"/>
          <p:nvPr/>
        </p:nvSpPr>
        <p:spPr>
          <a:xfrm>
            <a:off x="2953512" y="2651760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World, direction, camera, art and variants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7C2E74-942E-A60F-599C-149767F5447B}"/>
              </a:ext>
            </a:extLst>
          </p:cNvPr>
          <p:cNvCxnSpPr/>
          <p:nvPr/>
        </p:nvCxnSpPr>
        <p:spPr>
          <a:xfrm>
            <a:off x="4809744" y="2679192"/>
            <a:ext cx="25603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153E1A-84F7-2010-6EC6-521A97B03112}"/>
              </a:ext>
            </a:extLst>
          </p:cNvPr>
          <p:cNvSpPr/>
          <p:nvPr/>
        </p:nvSpPr>
        <p:spPr>
          <a:xfrm>
            <a:off x="5111496" y="2084832"/>
            <a:ext cx="1993392" cy="117043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6103DD-4E37-3D85-D107-C6EBC6D3084F}"/>
              </a:ext>
            </a:extLst>
          </p:cNvPr>
          <p:cNvSpPr/>
          <p:nvPr/>
        </p:nvSpPr>
        <p:spPr>
          <a:xfrm>
            <a:off x="5257800" y="2231136"/>
            <a:ext cx="347472" cy="347472"/>
          </a:xfrm>
          <a:prstGeom prst="ellipse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FDF7A3-3D7C-0E17-60B6-F85DEC0B29AE}"/>
              </a:ext>
            </a:extLst>
          </p:cNvPr>
          <p:cNvSpPr txBox="1"/>
          <p:nvPr/>
        </p:nvSpPr>
        <p:spPr>
          <a:xfrm>
            <a:off x="5257800" y="2231136"/>
            <a:ext cx="3474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0F17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CA533B-161B-5001-9541-46D299586CE6}"/>
              </a:ext>
            </a:extLst>
          </p:cNvPr>
          <p:cNvSpPr txBox="1"/>
          <p:nvPr/>
        </p:nvSpPr>
        <p:spPr>
          <a:xfrm>
            <a:off x="5678424" y="221284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Storyboard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EE2C06-9275-563C-706E-85D343C55B65}"/>
              </a:ext>
            </a:extLst>
          </p:cNvPr>
          <p:cNvSpPr txBox="1"/>
          <p:nvPr/>
        </p:nvSpPr>
        <p:spPr>
          <a:xfrm>
            <a:off x="5257800" y="2651760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Timed scene cards with continuity decisions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AE8108-FBAA-D6B6-F093-7ABA6CF938A3}"/>
              </a:ext>
            </a:extLst>
          </p:cNvPr>
          <p:cNvCxnSpPr/>
          <p:nvPr/>
        </p:nvCxnSpPr>
        <p:spPr>
          <a:xfrm>
            <a:off x="7114032" y="2679192"/>
            <a:ext cx="25603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2B2A43-CAC3-DCBD-BF05-E6FB57FCDA9D}"/>
              </a:ext>
            </a:extLst>
          </p:cNvPr>
          <p:cNvSpPr/>
          <p:nvPr/>
        </p:nvSpPr>
        <p:spPr>
          <a:xfrm>
            <a:off x="7415784" y="2084832"/>
            <a:ext cx="1993392" cy="117043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2821D5-8412-A05B-17AA-5EA34EE07FCF}"/>
              </a:ext>
            </a:extLst>
          </p:cNvPr>
          <p:cNvSpPr/>
          <p:nvPr/>
        </p:nvSpPr>
        <p:spPr>
          <a:xfrm>
            <a:off x="7562088" y="2231136"/>
            <a:ext cx="347472" cy="347472"/>
          </a:xfrm>
          <a:prstGeom prst="ellipse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CAD67B-BB75-2360-9277-675D0D2F1F1C}"/>
              </a:ext>
            </a:extLst>
          </p:cNvPr>
          <p:cNvSpPr txBox="1"/>
          <p:nvPr/>
        </p:nvSpPr>
        <p:spPr>
          <a:xfrm>
            <a:off x="7562088" y="2231136"/>
            <a:ext cx="3474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0F17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A5C378-1BB4-125F-6638-EB31A87EE739}"/>
              </a:ext>
            </a:extLst>
          </p:cNvPr>
          <p:cNvSpPr txBox="1"/>
          <p:nvPr/>
        </p:nvSpPr>
        <p:spPr>
          <a:xfrm>
            <a:off x="7982712" y="221284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Media prompts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85AD78-2D32-B752-DF65-F1F49EBFB0AA}"/>
              </a:ext>
            </a:extLst>
          </p:cNvPr>
          <p:cNvSpPr txBox="1"/>
          <p:nvPr/>
        </p:nvSpPr>
        <p:spPr>
          <a:xfrm>
            <a:off x="7562088" y="2651760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Start/end keyframes plus motion-first video text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DAF640-E0D1-6086-5B85-8EF0E4DBC0A3}"/>
              </a:ext>
            </a:extLst>
          </p:cNvPr>
          <p:cNvCxnSpPr/>
          <p:nvPr/>
        </p:nvCxnSpPr>
        <p:spPr>
          <a:xfrm>
            <a:off x="9418320" y="2679192"/>
            <a:ext cx="25603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779D807-D514-1479-7737-26E8ABE5C72D}"/>
              </a:ext>
            </a:extLst>
          </p:cNvPr>
          <p:cNvSpPr/>
          <p:nvPr/>
        </p:nvSpPr>
        <p:spPr>
          <a:xfrm>
            <a:off x="9720072" y="2084832"/>
            <a:ext cx="1993392" cy="117043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4EA2895-18D0-7692-4320-88947299C1D7}"/>
              </a:ext>
            </a:extLst>
          </p:cNvPr>
          <p:cNvSpPr/>
          <p:nvPr/>
        </p:nvSpPr>
        <p:spPr>
          <a:xfrm>
            <a:off x="9866376" y="2231136"/>
            <a:ext cx="347472" cy="347472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F630FC-B901-DEE9-F339-D6548B88CA19}"/>
              </a:ext>
            </a:extLst>
          </p:cNvPr>
          <p:cNvSpPr txBox="1"/>
          <p:nvPr/>
        </p:nvSpPr>
        <p:spPr>
          <a:xfrm>
            <a:off x="9866376" y="2231136"/>
            <a:ext cx="3474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0F17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16D042-E78D-1D5E-D0C9-7784D599D768}"/>
              </a:ext>
            </a:extLst>
          </p:cNvPr>
          <p:cNvSpPr txBox="1"/>
          <p:nvPr/>
        </p:nvSpPr>
        <p:spPr>
          <a:xfrm>
            <a:off x="10287000" y="221284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Approved cut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8E1B80-9A9C-FCD1-6289-E6F256B376CA}"/>
              </a:ext>
            </a:extLst>
          </p:cNvPr>
          <p:cNvSpPr txBox="1"/>
          <p:nvPr/>
        </p:nvSpPr>
        <p:spPr>
          <a:xfrm>
            <a:off x="9866376" y="2651760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Wan2GP attempts, QC, approval and assembly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DD0B47-F59C-F6D5-0084-1127D1CA7AE1}"/>
              </a:ext>
            </a:extLst>
          </p:cNvPr>
          <p:cNvSpPr txBox="1"/>
          <p:nvPr/>
        </p:nvSpPr>
        <p:spPr>
          <a:xfrm>
            <a:off x="502920" y="3730752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WHAT CHANGES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2263136-4355-11D0-924C-5F4AD25A9D40}"/>
              </a:ext>
            </a:extLst>
          </p:cNvPr>
          <p:cNvSpPr/>
          <p:nvPr/>
        </p:nvSpPr>
        <p:spPr>
          <a:xfrm>
            <a:off x="502920" y="4050792"/>
            <a:ext cx="3493008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7BEBF8-2486-727A-1044-7AE1B9E279E7}"/>
              </a:ext>
            </a:extLst>
          </p:cNvPr>
          <p:cNvSpPr/>
          <p:nvPr/>
        </p:nvSpPr>
        <p:spPr>
          <a:xfrm>
            <a:off x="502920" y="4050792"/>
            <a:ext cx="64008" cy="86868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438A4D-62C8-EA14-C632-6E9760BEB48C}"/>
              </a:ext>
            </a:extLst>
          </p:cNvPr>
          <p:cNvSpPr txBox="1"/>
          <p:nvPr/>
        </p:nvSpPr>
        <p:spPr>
          <a:xfrm>
            <a:off x="685800" y="4160520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Before rendering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60649F-2132-AAA9-E0DD-62BEB4BA7F64}"/>
              </a:ext>
            </a:extLst>
          </p:cNvPr>
          <p:cNvSpPr txBox="1"/>
          <p:nvPr/>
        </p:nvSpPr>
        <p:spPr>
          <a:xfrm>
            <a:off x="685800" y="4443984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Leaders and creators can review the creative logic while revisions are still inexpensive.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F8C3E2D-D62E-F5BE-3435-D56223488055}"/>
              </a:ext>
            </a:extLst>
          </p:cNvPr>
          <p:cNvSpPr/>
          <p:nvPr/>
        </p:nvSpPr>
        <p:spPr>
          <a:xfrm>
            <a:off x="4352544" y="4050792"/>
            <a:ext cx="3493008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EEC7DF-02CC-CDD2-37EF-A30E8A368522}"/>
              </a:ext>
            </a:extLst>
          </p:cNvPr>
          <p:cNvSpPr/>
          <p:nvPr/>
        </p:nvSpPr>
        <p:spPr>
          <a:xfrm>
            <a:off x="4352544" y="4050792"/>
            <a:ext cx="64008" cy="86868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981CB4-117D-6CAE-6660-47F2709BF0CE}"/>
              </a:ext>
            </a:extLst>
          </p:cNvPr>
          <p:cNvSpPr txBox="1"/>
          <p:nvPr/>
        </p:nvSpPr>
        <p:spPr>
          <a:xfrm>
            <a:off x="4535424" y="4160520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During rendering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7C1299-EAAC-CF12-A3A0-C04D77BA1317}"/>
              </a:ext>
            </a:extLst>
          </p:cNvPr>
          <p:cNvSpPr txBox="1"/>
          <p:nvPr/>
        </p:nvSpPr>
        <p:spPr>
          <a:xfrm>
            <a:off x="4535424" y="4443984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Each attempt stays attached to its scene, prompts, seed, model choice and approval state.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42C0A1F-19CB-E338-D88F-3ECFE40F94AC}"/>
              </a:ext>
            </a:extLst>
          </p:cNvPr>
          <p:cNvSpPr/>
          <p:nvPr/>
        </p:nvSpPr>
        <p:spPr>
          <a:xfrm>
            <a:off x="8202168" y="4050792"/>
            <a:ext cx="3493008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113122-78A0-FFA0-A0CF-F346CE22273A}"/>
              </a:ext>
            </a:extLst>
          </p:cNvPr>
          <p:cNvSpPr/>
          <p:nvPr/>
        </p:nvSpPr>
        <p:spPr>
          <a:xfrm>
            <a:off x="8202168" y="4050792"/>
            <a:ext cx="64008" cy="86868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08C105-EB9F-AAF2-AB43-0FE10312609D}"/>
              </a:ext>
            </a:extLst>
          </p:cNvPr>
          <p:cNvSpPr txBox="1"/>
          <p:nvPr/>
        </p:nvSpPr>
        <p:spPr>
          <a:xfrm>
            <a:off x="8385048" y="4160520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After rendering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8A2427-FCB4-BB74-44F8-3434FBDCDAAC}"/>
              </a:ext>
            </a:extLst>
          </p:cNvPr>
          <p:cNvSpPr txBox="1"/>
          <p:nvPr/>
        </p:nvSpPr>
        <p:spPr>
          <a:xfrm>
            <a:off x="8385048" y="4443984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Only approved clips reach assembly; exports preserve the storyboard and generation manifest.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8EC159C-B770-D344-09BF-DDE1BEEA7BD9}"/>
              </a:ext>
            </a:extLst>
          </p:cNvPr>
          <p:cNvSpPr/>
          <p:nvPr/>
        </p:nvSpPr>
        <p:spPr>
          <a:xfrm>
            <a:off x="502920" y="5175504"/>
            <a:ext cx="11192256" cy="80467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3B5D99-F790-8395-00D8-EC6A46F502B2}"/>
              </a:ext>
            </a:extLst>
          </p:cNvPr>
          <p:cNvSpPr txBox="1"/>
          <p:nvPr/>
        </p:nvSpPr>
        <p:spPr>
          <a:xfrm>
            <a:off x="713232" y="5404104"/>
            <a:ext cx="9601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Core idea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7E0DA5-CD08-9AA9-8799-16102361F81E}"/>
              </a:ext>
            </a:extLst>
          </p:cNvPr>
          <p:cNvSpPr txBox="1"/>
          <p:nvPr/>
        </p:nvSpPr>
        <p:spPr>
          <a:xfrm>
            <a:off x="1600200" y="5321808"/>
            <a:ext cx="9738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500" b="1">
                <a:solidFill>
                  <a:srgbClr val="F8FAFC"/>
                </a:solidFill>
                <a:latin typeface="Aptos Display" panose="020B0004020202020204" pitchFamily="34" charset="0"/>
              </a:rPr>
              <a:t>Make the production decisions visible, editable and reusable before asking image and video models to execute them.</a:t>
            </a:r>
          </a:p>
        </p:txBody>
      </p:sp>
    </p:spTree>
    <p:extLst>
      <p:ext uri="{BB962C8B-B14F-4D97-AF65-F5344CB8AC3E}">
        <p14:creationId xmlns:p14="http://schemas.microsoft.com/office/powerpoint/2010/main" val="421489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ABFBE2-A7C0-4A18-AF86-7E2FE8959E1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3D3F9D-7455-B275-3071-6698F457BCE2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6A3B8-28EF-BC60-A6F1-ECC35F8BD41A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99A1E-2947-038B-6385-FC9DDCF7F65D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BUSINESS INFOGRAPHIC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60886D-D506-840B-28F0-1B2082BD8A6D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59B807-B68F-606D-AF83-4E74D15FF9D0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C898A-F075-3130-0F8A-45FB536A9E04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4F9C-1A0D-18B6-BF25-C7874AB0D18C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FOR BUSINESS LEADERS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9A8CA-F35D-2EC6-EF3E-2983FA3652AA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Creative scale with control points built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C61CC-F646-778A-A986-711669118CF3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StoryForgeAI coordinates specialized AI work around a shared storyboard, keeping human choice visible from direction to final cut.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72B4CC-0F39-C6C5-BFA2-1795BD96CEE5}"/>
              </a:ext>
            </a:extLst>
          </p:cNvPr>
          <p:cNvSpPr/>
          <p:nvPr/>
        </p:nvSpPr>
        <p:spPr>
          <a:xfrm>
            <a:off x="502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2D25B-9CE0-0D6B-6B74-C343F18A0F9B}"/>
              </a:ext>
            </a:extLst>
          </p:cNvPr>
          <p:cNvSpPr/>
          <p:nvPr/>
        </p:nvSpPr>
        <p:spPr>
          <a:xfrm>
            <a:off x="502920" y="2157984"/>
            <a:ext cx="1938528" cy="73152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206CB-02ED-683A-1A29-E2E102D830BA}"/>
              </a:ext>
            </a:extLst>
          </p:cNvPr>
          <p:cNvSpPr txBox="1"/>
          <p:nvPr/>
        </p:nvSpPr>
        <p:spPr>
          <a:xfrm>
            <a:off x="621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BUSINESS INTENT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EE3E4F-A473-803F-3DC5-40F5666895A0}"/>
              </a:ext>
            </a:extLst>
          </p:cNvPr>
          <p:cNvSpPr txBox="1"/>
          <p:nvPr/>
        </p:nvSpPr>
        <p:spPr>
          <a:xfrm>
            <a:off x="621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Concept + audience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53F710-B907-F145-9DDD-410E958BF79C}"/>
              </a:ext>
            </a:extLst>
          </p:cNvPr>
          <p:cNvCxnSpPr/>
          <p:nvPr/>
        </p:nvCxnSpPr>
        <p:spPr>
          <a:xfrm>
            <a:off x="2450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1C0DCE-1C2F-7701-AA8C-E1BB9D79AADA}"/>
              </a:ext>
            </a:extLst>
          </p:cNvPr>
          <p:cNvSpPr/>
          <p:nvPr/>
        </p:nvSpPr>
        <p:spPr>
          <a:xfrm>
            <a:off x="2788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672585-2F61-0CED-2350-4C3EB8A95018}"/>
              </a:ext>
            </a:extLst>
          </p:cNvPr>
          <p:cNvSpPr/>
          <p:nvPr/>
        </p:nvSpPr>
        <p:spPr>
          <a:xfrm>
            <a:off x="2788920" y="2157984"/>
            <a:ext cx="1938528" cy="73152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C49B37-1DDE-689C-53D3-90EA5E6295D0}"/>
              </a:ext>
            </a:extLst>
          </p:cNvPr>
          <p:cNvSpPr txBox="1"/>
          <p:nvPr/>
        </p:nvSpPr>
        <p:spPr>
          <a:xfrm>
            <a:off x="2907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AI CREATIVE CREW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A4447-44A0-2E6C-E90C-561848FE2408}"/>
              </a:ext>
            </a:extLst>
          </p:cNvPr>
          <p:cNvSpPr txBox="1"/>
          <p:nvPr/>
        </p:nvSpPr>
        <p:spPr>
          <a:xfrm>
            <a:off x="2907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Plans + variants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692822-09BD-706E-DB1D-ABB9DA859170}"/>
              </a:ext>
            </a:extLst>
          </p:cNvPr>
          <p:cNvCxnSpPr/>
          <p:nvPr/>
        </p:nvCxnSpPr>
        <p:spPr>
          <a:xfrm>
            <a:off x="4736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D84D4E-0034-E1BD-7861-797B9CC9C748}"/>
              </a:ext>
            </a:extLst>
          </p:cNvPr>
          <p:cNvSpPr/>
          <p:nvPr/>
        </p:nvSpPr>
        <p:spPr>
          <a:xfrm>
            <a:off x="5074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A499A0-C660-F48B-8018-FA9BA06757B4}"/>
              </a:ext>
            </a:extLst>
          </p:cNvPr>
          <p:cNvSpPr/>
          <p:nvPr/>
        </p:nvSpPr>
        <p:spPr>
          <a:xfrm>
            <a:off x="5074920" y="2157984"/>
            <a:ext cx="1938528" cy="73152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926B66-1211-D807-1DB1-F9FBC55E898B}"/>
              </a:ext>
            </a:extLst>
          </p:cNvPr>
          <p:cNvSpPr txBox="1"/>
          <p:nvPr/>
        </p:nvSpPr>
        <p:spPr>
          <a:xfrm>
            <a:off x="5193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STORYBOARD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5D21CC-E85A-B16E-EA04-11E974F8401A}"/>
              </a:ext>
            </a:extLst>
          </p:cNvPr>
          <p:cNvSpPr txBox="1"/>
          <p:nvPr/>
        </p:nvSpPr>
        <p:spPr>
          <a:xfrm>
            <a:off x="5193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Timed scene decisions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9B86B1-BA55-DE55-1A73-650038A62066}"/>
              </a:ext>
            </a:extLst>
          </p:cNvPr>
          <p:cNvCxnSpPr/>
          <p:nvPr/>
        </p:nvCxnSpPr>
        <p:spPr>
          <a:xfrm>
            <a:off x="7022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C8FAFE-26F4-3997-1DC8-BF8DBBC2DAB8}"/>
              </a:ext>
            </a:extLst>
          </p:cNvPr>
          <p:cNvSpPr/>
          <p:nvPr/>
        </p:nvSpPr>
        <p:spPr>
          <a:xfrm>
            <a:off x="7360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65BB0A-EBEC-9EC8-1311-88CA57DB6403}"/>
              </a:ext>
            </a:extLst>
          </p:cNvPr>
          <p:cNvSpPr/>
          <p:nvPr/>
        </p:nvSpPr>
        <p:spPr>
          <a:xfrm>
            <a:off x="7360920" y="2157984"/>
            <a:ext cx="1938528" cy="73152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0AFAA1-19FB-5BAA-40EE-42D402A06C02}"/>
              </a:ext>
            </a:extLst>
          </p:cNvPr>
          <p:cNvSpPr txBox="1"/>
          <p:nvPr/>
        </p:nvSpPr>
        <p:spPr>
          <a:xfrm>
            <a:off x="7479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WAN2GP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7C1885-BDA9-AC39-44A1-DAF2AD451E63}"/>
              </a:ext>
            </a:extLst>
          </p:cNvPr>
          <p:cNvSpPr txBox="1"/>
          <p:nvPr/>
        </p:nvSpPr>
        <p:spPr>
          <a:xfrm>
            <a:off x="7479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Keyframes + clips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9B062A-74FF-3104-1294-A3DA87A309F3}"/>
              </a:ext>
            </a:extLst>
          </p:cNvPr>
          <p:cNvCxnSpPr/>
          <p:nvPr/>
        </p:nvCxnSpPr>
        <p:spPr>
          <a:xfrm>
            <a:off x="9308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763A7EF-BD19-5301-5321-B8B7FCE3D2A0}"/>
              </a:ext>
            </a:extLst>
          </p:cNvPr>
          <p:cNvSpPr/>
          <p:nvPr/>
        </p:nvSpPr>
        <p:spPr>
          <a:xfrm>
            <a:off x="9646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1CD507-6911-6C6C-622F-3664E97EA213}"/>
              </a:ext>
            </a:extLst>
          </p:cNvPr>
          <p:cNvSpPr/>
          <p:nvPr/>
        </p:nvSpPr>
        <p:spPr>
          <a:xfrm>
            <a:off x="9646920" y="2157984"/>
            <a:ext cx="1938528" cy="73152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960349-60CA-8468-C3FC-49959799FA96}"/>
              </a:ext>
            </a:extLst>
          </p:cNvPr>
          <p:cNvSpPr txBox="1"/>
          <p:nvPr/>
        </p:nvSpPr>
        <p:spPr>
          <a:xfrm>
            <a:off x="9765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APPROVED PACKAGE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D3DFB-B525-4673-E8D5-F71C0D8D433B}"/>
              </a:ext>
            </a:extLst>
          </p:cNvPr>
          <p:cNvSpPr txBox="1"/>
          <p:nvPr/>
        </p:nvSpPr>
        <p:spPr>
          <a:xfrm>
            <a:off x="9765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Cut + manifests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A0E35D-AF27-CF43-49AA-7A5BE72844F7}"/>
              </a:ext>
            </a:extLst>
          </p:cNvPr>
          <p:cNvSpPr txBox="1"/>
          <p:nvPr/>
        </p:nvSpPr>
        <p:spPr>
          <a:xfrm>
            <a:off x="502920" y="353872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BUSINESS VALUE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01B6F7-A56B-A6D4-0B86-1010F30B7604}"/>
              </a:ext>
            </a:extLst>
          </p:cNvPr>
          <p:cNvSpPr/>
          <p:nvPr/>
        </p:nvSpPr>
        <p:spPr>
          <a:xfrm>
            <a:off x="502920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23FEC9-F9F5-F9FB-16DB-1D6753A5E0D3}"/>
              </a:ext>
            </a:extLst>
          </p:cNvPr>
          <p:cNvSpPr/>
          <p:nvPr/>
        </p:nvSpPr>
        <p:spPr>
          <a:xfrm>
            <a:off x="502920" y="3840480"/>
            <a:ext cx="64008" cy="86868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93218F-A7D6-516E-D70B-4F1745094523}"/>
              </a:ext>
            </a:extLst>
          </p:cNvPr>
          <p:cNvSpPr txBox="1"/>
          <p:nvPr/>
        </p:nvSpPr>
        <p:spPr>
          <a:xfrm>
            <a:off x="685800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Align earlier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A00D5F-3070-B88A-03E9-A38B4572042D}"/>
              </a:ext>
            </a:extLst>
          </p:cNvPr>
          <p:cNvSpPr txBox="1"/>
          <p:nvPr/>
        </p:nvSpPr>
        <p:spPr>
          <a:xfrm>
            <a:off x="685800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Select a creative direction and inspect the plan before committing render time.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CD0D96B-AE41-3F02-1023-AD5FD5C1C870}"/>
              </a:ext>
            </a:extLst>
          </p:cNvPr>
          <p:cNvSpPr/>
          <p:nvPr/>
        </p:nvSpPr>
        <p:spPr>
          <a:xfrm>
            <a:off x="3273552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B7EE0A-DE85-4CBC-E520-96EC4237E790}"/>
              </a:ext>
            </a:extLst>
          </p:cNvPr>
          <p:cNvSpPr/>
          <p:nvPr/>
        </p:nvSpPr>
        <p:spPr>
          <a:xfrm>
            <a:off x="3273552" y="3840480"/>
            <a:ext cx="64008" cy="86868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250D47-4CFB-613C-7446-22EC54413187}"/>
              </a:ext>
            </a:extLst>
          </p:cNvPr>
          <p:cNvSpPr txBox="1"/>
          <p:nvPr/>
        </p:nvSpPr>
        <p:spPr>
          <a:xfrm>
            <a:off x="3456432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Reduce rework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7A0B85-2A19-466F-265B-1492A3C6D1A8}"/>
              </a:ext>
            </a:extLst>
          </p:cNvPr>
          <p:cNvSpPr txBox="1"/>
          <p:nvPr/>
        </p:nvSpPr>
        <p:spPr>
          <a:xfrm>
            <a:off x="3456432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Edit one scene or rewrite one prompt pass without rebuilding the whole project.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665833C-A5BF-711F-DD1C-84A2ECF6A709}"/>
              </a:ext>
            </a:extLst>
          </p:cNvPr>
          <p:cNvSpPr/>
          <p:nvPr/>
        </p:nvSpPr>
        <p:spPr>
          <a:xfrm>
            <a:off x="6044184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14D0F7-069F-C3AD-2265-6AD869E04EBA}"/>
              </a:ext>
            </a:extLst>
          </p:cNvPr>
          <p:cNvSpPr/>
          <p:nvPr/>
        </p:nvSpPr>
        <p:spPr>
          <a:xfrm>
            <a:off x="6044184" y="3840480"/>
            <a:ext cx="64008" cy="86868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2BBCD3-DF07-15D3-4FA0-8EC9B2261B23}"/>
              </a:ext>
            </a:extLst>
          </p:cNvPr>
          <p:cNvSpPr txBox="1"/>
          <p:nvPr/>
        </p:nvSpPr>
        <p:spPr>
          <a:xfrm>
            <a:off x="6227064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Protect consistency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52E0ED-9ECB-0D00-C622-FB06665CA650}"/>
              </a:ext>
            </a:extLst>
          </p:cNvPr>
          <p:cNvSpPr txBox="1"/>
          <p:nvPr/>
        </p:nvSpPr>
        <p:spPr>
          <a:xfrm>
            <a:off x="6227064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World, camera, cast, wardrobe and continuity decisions follow the scene.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B68A608-DF2F-FBFC-D919-CDF68E5E0935}"/>
              </a:ext>
            </a:extLst>
          </p:cNvPr>
          <p:cNvSpPr/>
          <p:nvPr/>
        </p:nvSpPr>
        <p:spPr>
          <a:xfrm>
            <a:off x="8814816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AAB5BD-9CA3-A5F9-B2CA-DCDCA44DB765}"/>
              </a:ext>
            </a:extLst>
          </p:cNvPr>
          <p:cNvSpPr/>
          <p:nvPr/>
        </p:nvSpPr>
        <p:spPr>
          <a:xfrm>
            <a:off x="8814816" y="3840480"/>
            <a:ext cx="64008" cy="86868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FFAA76-D13F-23F9-9681-0068B8B8BCE0}"/>
              </a:ext>
            </a:extLst>
          </p:cNvPr>
          <p:cNvSpPr txBox="1"/>
          <p:nvPr/>
        </p:nvSpPr>
        <p:spPr>
          <a:xfrm>
            <a:off x="8997696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Keep accountability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BCC185-D54F-24BA-4DCB-9501B74A7835}"/>
              </a:ext>
            </a:extLst>
          </p:cNvPr>
          <p:cNvSpPr txBox="1"/>
          <p:nvPr/>
        </p:nvSpPr>
        <p:spPr>
          <a:xfrm>
            <a:off x="8997696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Attempts, QC findings and approvals remain attached to the production record.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390D47E-52BC-296C-393D-2CDBC712B656}"/>
              </a:ext>
            </a:extLst>
          </p:cNvPr>
          <p:cNvSpPr/>
          <p:nvPr/>
        </p:nvSpPr>
        <p:spPr>
          <a:xfrm>
            <a:off x="502920" y="5020056"/>
            <a:ext cx="10972800" cy="804672"/>
          </a:xfrm>
          <a:prstGeom prst="roundRect">
            <a:avLst/>
          </a:prstGeom>
          <a:solidFill>
            <a:srgbClr val="182131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E32367-39F5-A811-C73C-0A42F1CAF04E}"/>
              </a:ext>
            </a:extLst>
          </p:cNvPr>
          <p:cNvSpPr txBox="1"/>
          <p:nvPr/>
        </p:nvSpPr>
        <p:spPr>
          <a:xfrm>
            <a:off x="713232" y="5266944"/>
            <a:ext cx="14173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HUMAN CHECKPOINTS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B14D28D-5B13-19A6-AF4F-114B2E2C1A0E}"/>
              </a:ext>
            </a:extLst>
          </p:cNvPr>
          <p:cNvSpPr/>
          <p:nvPr/>
        </p:nvSpPr>
        <p:spPr>
          <a:xfrm>
            <a:off x="2395728" y="5202936"/>
            <a:ext cx="1417320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B0C1E-42FC-1150-DBB2-4E61D7CE4D70}"/>
              </a:ext>
            </a:extLst>
          </p:cNvPr>
          <p:cNvSpPr txBox="1"/>
          <p:nvPr/>
        </p:nvSpPr>
        <p:spPr>
          <a:xfrm>
            <a:off x="2395728" y="5202936"/>
            <a:ext cx="14173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Select direction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6B27C4-1929-3562-EF60-AC57BEC672FD}"/>
              </a:ext>
            </a:extLst>
          </p:cNvPr>
          <p:cNvCxnSpPr/>
          <p:nvPr/>
        </p:nvCxnSpPr>
        <p:spPr>
          <a:xfrm>
            <a:off x="3913632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757F235-CD1B-0F02-9B32-2C1AA1BAE4D8}"/>
              </a:ext>
            </a:extLst>
          </p:cNvPr>
          <p:cNvSpPr/>
          <p:nvPr/>
        </p:nvSpPr>
        <p:spPr>
          <a:xfrm>
            <a:off x="4325112" y="5202936"/>
            <a:ext cx="1243584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C385D3-A743-AD4A-ABBA-AA1F3AE35982}"/>
              </a:ext>
            </a:extLst>
          </p:cNvPr>
          <p:cNvSpPr txBox="1"/>
          <p:nvPr/>
        </p:nvSpPr>
        <p:spPr>
          <a:xfrm>
            <a:off x="4325112" y="5202936"/>
            <a:ext cx="12435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Edit scene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0F5E4BB-0E44-60AB-623D-05EF5D3EB727}"/>
              </a:ext>
            </a:extLst>
          </p:cNvPr>
          <p:cNvCxnSpPr/>
          <p:nvPr/>
        </p:nvCxnSpPr>
        <p:spPr>
          <a:xfrm>
            <a:off x="5669280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AE22E98-2128-91CA-3097-6BFC25BE14D4}"/>
              </a:ext>
            </a:extLst>
          </p:cNvPr>
          <p:cNvSpPr/>
          <p:nvPr/>
        </p:nvSpPr>
        <p:spPr>
          <a:xfrm>
            <a:off x="6080760" y="5202936"/>
            <a:ext cx="1435608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528C27-B17E-2FEC-0B3C-7C90F4B7C172}"/>
              </a:ext>
            </a:extLst>
          </p:cNvPr>
          <p:cNvSpPr txBox="1"/>
          <p:nvPr/>
        </p:nvSpPr>
        <p:spPr>
          <a:xfrm>
            <a:off x="6080760" y="5202936"/>
            <a:ext cx="143560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Review attempts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59F94FF-C9ED-95FA-8F00-750207FF0647}"/>
              </a:ext>
            </a:extLst>
          </p:cNvPr>
          <p:cNvCxnSpPr/>
          <p:nvPr/>
        </p:nvCxnSpPr>
        <p:spPr>
          <a:xfrm>
            <a:off x="7616952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F997DFC-8AA1-CB6A-CCC9-5190F0A28B34}"/>
              </a:ext>
            </a:extLst>
          </p:cNvPr>
          <p:cNvSpPr/>
          <p:nvPr/>
        </p:nvSpPr>
        <p:spPr>
          <a:xfrm>
            <a:off x="8028432" y="5202936"/>
            <a:ext cx="1353312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0C6A21-ADF1-A099-E67E-0CB27B197B28}"/>
              </a:ext>
            </a:extLst>
          </p:cNvPr>
          <p:cNvSpPr txBox="1"/>
          <p:nvPr/>
        </p:nvSpPr>
        <p:spPr>
          <a:xfrm>
            <a:off x="8028432" y="5202936"/>
            <a:ext cx="13533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Approve clip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6F663BB-3446-BB9B-BD22-F16354EBCD88}"/>
              </a:ext>
            </a:extLst>
          </p:cNvPr>
          <p:cNvCxnSpPr/>
          <p:nvPr/>
        </p:nvCxnSpPr>
        <p:spPr>
          <a:xfrm>
            <a:off x="9482328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91FD26B-300D-01AF-9AAC-F0C5CC0DA0F8}"/>
              </a:ext>
            </a:extLst>
          </p:cNvPr>
          <p:cNvSpPr/>
          <p:nvPr/>
        </p:nvSpPr>
        <p:spPr>
          <a:xfrm>
            <a:off x="9893808" y="5202936"/>
            <a:ext cx="1005840" cy="310896"/>
          </a:xfrm>
          <a:prstGeom prst="roundRect">
            <a:avLst/>
          </a:prstGeom>
          <a:solidFill>
            <a:srgbClr val="0C342B"/>
          </a:solidFill>
          <a:ln w="952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CAD6F4-0B6F-B4D9-9237-D747C442B3BA}"/>
              </a:ext>
            </a:extLst>
          </p:cNvPr>
          <p:cNvSpPr txBox="1"/>
          <p:nvPr/>
        </p:nvSpPr>
        <p:spPr>
          <a:xfrm>
            <a:off x="9893808" y="5202936"/>
            <a:ext cx="10058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 panose="020B0004020202020204" pitchFamily="34" charset="0"/>
              </a:rPr>
              <a:t>Assemble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BB150E-BFB7-AE80-30CD-1FBBA162627C}"/>
              </a:ext>
            </a:extLst>
          </p:cNvPr>
          <p:cNvSpPr txBox="1"/>
          <p:nvPr/>
        </p:nvSpPr>
        <p:spPr>
          <a:xfrm>
            <a:off x="1170432" y="6044184"/>
            <a:ext cx="9875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A7B3C7"/>
                </a:solidFill>
                <a:latin typeface="Aptos" panose="020B0004020202020204" pitchFamily="34" charset="0"/>
              </a:rPr>
              <a:t>LOCAL-FIRST OPTION  |  DEMO WITHOUT EXTERNAL SERVICES  |  MODEL BACKENDS REMAIN SWAPPABLE</a:t>
            </a:r>
          </a:p>
        </p:txBody>
      </p:sp>
    </p:spTree>
    <p:extLst>
      <p:ext uri="{BB962C8B-B14F-4D97-AF65-F5344CB8AC3E}">
        <p14:creationId xmlns:p14="http://schemas.microsoft.com/office/powerpoint/2010/main" val="11625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5B8ED-8D0D-E8F2-85F3-124C13D8E18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4966D-CD37-53CA-779D-9F8E0CAFFD6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6EA5F-FADE-201C-65D1-3164A50699C9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6E749-9949-25CB-F230-69E3C5E15307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AGENTIC CANVAS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4262D4-5852-42A9-BA71-F548EA4E2A7B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549644A-BA0D-8EC8-8DBB-E5D55B75BB8B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42E7D-E573-A67C-B04E-2E528FCCBB0C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AFDE4-1664-0BE9-22BD-3854900CD588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CREATIVE INTELLIGENCE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EB62D-0661-B5FB-AA92-DF5BE7BCA44C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A visible crew, each accountable for one artifact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4AEBE-E94D-C787-A336-9BC9ABEAE12A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Agents do not blend into one opaque answer. Their plans are stored, reviewed and applied when the storyboard is generated.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7FB26-2D3B-7BA6-65E3-B2AD994A27F6}"/>
              </a:ext>
            </a:extLst>
          </p:cNvPr>
          <p:cNvSpPr txBox="1"/>
          <p:nvPr/>
        </p:nvSpPr>
        <p:spPr>
          <a:xfrm>
            <a:off x="502920" y="198424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PLANNING CREW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605E94-3B9F-81FE-B5ED-D1471955963E}"/>
              </a:ext>
            </a:extLst>
          </p:cNvPr>
          <p:cNvSpPr/>
          <p:nvPr/>
        </p:nvSpPr>
        <p:spPr>
          <a:xfrm>
            <a:off x="502920" y="2267712"/>
            <a:ext cx="2770632" cy="758952"/>
          </a:xfrm>
          <a:prstGeom prst="roundRect">
            <a:avLst/>
          </a:prstGeom>
          <a:solidFill>
            <a:srgbClr val="131A26"/>
          </a:solidFill>
          <a:ln w="1079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31772B-D7B1-8E25-2CCE-1AB7E64001D7}"/>
              </a:ext>
            </a:extLst>
          </p:cNvPr>
          <p:cNvSpPr/>
          <p:nvPr/>
        </p:nvSpPr>
        <p:spPr>
          <a:xfrm>
            <a:off x="621792" y="2395728"/>
            <a:ext cx="475488" cy="47548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B498C-9A10-E963-25E5-3C77C4E7B072}"/>
              </a:ext>
            </a:extLst>
          </p:cNvPr>
          <p:cNvSpPr txBox="1"/>
          <p:nvPr/>
        </p:nvSpPr>
        <p:spPr>
          <a:xfrm>
            <a:off x="621792" y="2395728"/>
            <a:ext cx="47548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4A6EC-6DE5-A906-FC92-F167A5A39E70}"/>
              </a:ext>
            </a:extLst>
          </p:cNvPr>
          <p:cNvSpPr txBox="1"/>
          <p:nvPr/>
        </p:nvSpPr>
        <p:spPr>
          <a:xfrm>
            <a:off x="1216152" y="2377440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Variant Explorer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B1364-58E3-622D-C3A1-8C1E01A26FBB}"/>
              </a:ext>
            </a:extLst>
          </p:cNvPr>
          <p:cNvSpPr txBox="1"/>
          <p:nvPr/>
        </p:nvSpPr>
        <p:spPr>
          <a:xfrm>
            <a:off x="1216152" y="2660904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Three creative directions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F5C3A5-0857-8AD1-D65F-ACCA7E4D0DD3}"/>
              </a:ext>
            </a:extLst>
          </p:cNvPr>
          <p:cNvSpPr/>
          <p:nvPr/>
        </p:nvSpPr>
        <p:spPr>
          <a:xfrm>
            <a:off x="502920" y="3118104"/>
            <a:ext cx="2770632" cy="758952"/>
          </a:xfrm>
          <a:prstGeom prst="roundRect">
            <a:avLst/>
          </a:prstGeom>
          <a:solidFill>
            <a:srgbClr val="131A26"/>
          </a:solidFill>
          <a:ln w="1079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BAAE32-0F6A-1A08-D351-43F94773413F}"/>
              </a:ext>
            </a:extLst>
          </p:cNvPr>
          <p:cNvSpPr/>
          <p:nvPr/>
        </p:nvSpPr>
        <p:spPr>
          <a:xfrm>
            <a:off x="621792" y="3246120"/>
            <a:ext cx="475488" cy="47548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256D0-499C-12B7-65EF-79B314B37FDE}"/>
              </a:ext>
            </a:extLst>
          </p:cNvPr>
          <p:cNvSpPr txBox="1"/>
          <p:nvPr/>
        </p:nvSpPr>
        <p:spPr>
          <a:xfrm>
            <a:off x="621792" y="3246120"/>
            <a:ext cx="47548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WB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56BD35-B88E-DF7E-38EB-0D3EA2CBF2F5}"/>
              </a:ext>
            </a:extLst>
          </p:cNvPr>
          <p:cNvSpPr txBox="1"/>
          <p:nvPr/>
        </p:nvSpPr>
        <p:spPr>
          <a:xfrm>
            <a:off x="1216152" y="3227832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World Builder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4CA42D-2661-7D07-C23C-32BE1DDDE804}"/>
              </a:ext>
            </a:extLst>
          </p:cNvPr>
          <p:cNvSpPr txBox="1"/>
          <p:nvPr/>
        </p:nvSpPr>
        <p:spPr>
          <a:xfrm>
            <a:off x="1216152" y="3511296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Rules, locations, motifs, contradictions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9A33A8-4586-DAFF-63B7-66754587C99F}"/>
              </a:ext>
            </a:extLst>
          </p:cNvPr>
          <p:cNvSpPr/>
          <p:nvPr/>
        </p:nvSpPr>
        <p:spPr>
          <a:xfrm>
            <a:off x="502920" y="3968496"/>
            <a:ext cx="2770632" cy="758952"/>
          </a:xfrm>
          <a:prstGeom prst="roundRect">
            <a:avLst/>
          </a:prstGeom>
          <a:solidFill>
            <a:srgbClr val="131A26"/>
          </a:solidFill>
          <a:ln w="1079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E0BE000-3AD2-8008-F91A-F5A24EFB9F06}"/>
              </a:ext>
            </a:extLst>
          </p:cNvPr>
          <p:cNvSpPr/>
          <p:nvPr/>
        </p:nvSpPr>
        <p:spPr>
          <a:xfrm>
            <a:off x="621792" y="4096512"/>
            <a:ext cx="475488" cy="475488"/>
          </a:xfrm>
          <a:prstGeom prst="ellipse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B80557-7701-698A-D062-32D161916AE0}"/>
              </a:ext>
            </a:extLst>
          </p:cNvPr>
          <p:cNvSpPr txBox="1"/>
          <p:nvPr/>
        </p:nvSpPr>
        <p:spPr>
          <a:xfrm>
            <a:off x="621792" y="4096512"/>
            <a:ext cx="47548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DR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B20412-9D37-08E9-DDC5-D75D0E4F2E6B}"/>
              </a:ext>
            </a:extLst>
          </p:cNvPr>
          <p:cNvSpPr txBox="1"/>
          <p:nvPr/>
        </p:nvSpPr>
        <p:spPr>
          <a:xfrm>
            <a:off x="1216152" y="4078224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Director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5B6A24-5FC8-91DC-7674-9F2D637307F8}"/>
              </a:ext>
            </a:extLst>
          </p:cNvPr>
          <p:cNvSpPr txBox="1"/>
          <p:nvPr/>
        </p:nvSpPr>
        <p:spPr>
          <a:xfrm>
            <a:off x="1216152" y="4361688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Thesis, pacing, performance, scene intent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282556E-EF9A-BE13-64D0-5B3D0D7CE7D8}"/>
              </a:ext>
            </a:extLst>
          </p:cNvPr>
          <p:cNvSpPr/>
          <p:nvPr/>
        </p:nvSpPr>
        <p:spPr>
          <a:xfrm>
            <a:off x="502920" y="4818888"/>
            <a:ext cx="2770632" cy="758952"/>
          </a:xfrm>
          <a:prstGeom prst="roundRect">
            <a:avLst/>
          </a:prstGeom>
          <a:solidFill>
            <a:srgbClr val="131A26"/>
          </a:solidFill>
          <a:ln w="1079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A5267C-FB99-370A-5EAA-1C33A18453CF}"/>
              </a:ext>
            </a:extLst>
          </p:cNvPr>
          <p:cNvSpPr/>
          <p:nvPr/>
        </p:nvSpPr>
        <p:spPr>
          <a:xfrm>
            <a:off x="621792" y="4946904"/>
            <a:ext cx="475488" cy="475488"/>
          </a:xfrm>
          <a:prstGeom prst="ellipse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D6D88-65E1-E55A-3D5A-4FE54F21D96E}"/>
              </a:ext>
            </a:extLst>
          </p:cNvPr>
          <p:cNvSpPr txBox="1"/>
          <p:nvPr/>
        </p:nvSpPr>
        <p:spPr>
          <a:xfrm>
            <a:off x="621792" y="4946904"/>
            <a:ext cx="47548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CI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C2CB4D-9D05-D384-7A53-8A6B0F7CCACE}"/>
              </a:ext>
            </a:extLst>
          </p:cNvPr>
          <p:cNvSpPr txBox="1"/>
          <p:nvPr/>
        </p:nvSpPr>
        <p:spPr>
          <a:xfrm>
            <a:off x="1216152" y="4928616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Cinematographer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E85E8B-4CC2-7987-3A1B-F2611254FDF9}"/>
              </a:ext>
            </a:extLst>
          </p:cNvPr>
          <p:cNvSpPr txBox="1"/>
          <p:nvPr/>
        </p:nvSpPr>
        <p:spPr>
          <a:xfrm>
            <a:off x="1216152" y="5212080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Shot language, lens, movement, lighting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36AF79-2F11-1A43-2DA8-B3751C780C01}"/>
              </a:ext>
            </a:extLst>
          </p:cNvPr>
          <p:cNvSpPr/>
          <p:nvPr/>
        </p:nvSpPr>
        <p:spPr>
          <a:xfrm>
            <a:off x="502920" y="5669280"/>
            <a:ext cx="2770632" cy="758952"/>
          </a:xfrm>
          <a:prstGeom prst="roundRect">
            <a:avLst/>
          </a:prstGeom>
          <a:solidFill>
            <a:srgbClr val="131A26"/>
          </a:solidFill>
          <a:ln w="1079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52270D4-A010-7CEE-EA4B-5A436AD4676A}"/>
              </a:ext>
            </a:extLst>
          </p:cNvPr>
          <p:cNvSpPr/>
          <p:nvPr/>
        </p:nvSpPr>
        <p:spPr>
          <a:xfrm>
            <a:off x="621792" y="5797296"/>
            <a:ext cx="475488" cy="475488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B40E8-8C5F-4AFC-B243-F2785B93E324}"/>
              </a:ext>
            </a:extLst>
          </p:cNvPr>
          <p:cNvSpPr txBox="1"/>
          <p:nvPr/>
        </p:nvSpPr>
        <p:spPr>
          <a:xfrm>
            <a:off x="621792" y="5797296"/>
            <a:ext cx="47548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AD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E8FE00-ECA5-3987-150A-8B7234B3A87C}"/>
              </a:ext>
            </a:extLst>
          </p:cNvPr>
          <p:cNvSpPr txBox="1"/>
          <p:nvPr/>
        </p:nvSpPr>
        <p:spPr>
          <a:xfrm>
            <a:off x="1216152" y="5779008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Art Director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002814-D55F-2E10-B48C-7589B94DEA1D}"/>
              </a:ext>
            </a:extLst>
          </p:cNvPr>
          <p:cNvSpPr txBox="1"/>
          <p:nvPr/>
        </p:nvSpPr>
        <p:spPr>
          <a:xfrm>
            <a:off x="1216152" y="6062472"/>
            <a:ext cx="19476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Production design, props, color, wardrobe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0414DB-45CE-FA4A-835B-8FEC45C5E11B}"/>
              </a:ext>
            </a:extLst>
          </p:cNvPr>
          <p:cNvSpPr txBox="1"/>
          <p:nvPr/>
        </p:nvSpPr>
        <p:spPr>
          <a:xfrm>
            <a:off x="3593592" y="1984248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PRODUCTION HANDOFF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7AC609C-A8B2-F115-FFD6-70122644C5C6}"/>
              </a:ext>
            </a:extLst>
          </p:cNvPr>
          <p:cNvSpPr/>
          <p:nvPr/>
        </p:nvSpPr>
        <p:spPr>
          <a:xfrm>
            <a:off x="3593592" y="2267712"/>
            <a:ext cx="2907792" cy="4160520"/>
          </a:xfrm>
          <a:prstGeom prst="roundRect">
            <a:avLst/>
          </a:prstGeom>
          <a:solidFill>
            <a:srgbClr val="131A26"/>
          </a:solidFill>
          <a:ln w="1143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F4CAD85-9BF0-C316-9C34-2C828B467BCA}"/>
              </a:ext>
            </a:extLst>
          </p:cNvPr>
          <p:cNvSpPr/>
          <p:nvPr/>
        </p:nvSpPr>
        <p:spPr>
          <a:xfrm>
            <a:off x="3822192" y="2514600"/>
            <a:ext cx="338328" cy="338328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B78545-97EF-DC95-A396-B12CAFEA98AC}"/>
              </a:ext>
            </a:extLst>
          </p:cNvPr>
          <p:cNvSpPr txBox="1"/>
          <p:nvPr/>
        </p:nvSpPr>
        <p:spPr>
          <a:xfrm>
            <a:off x="3822192" y="2514600"/>
            <a:ext cx="338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1C6597-F4A5-96A9-52E2-AA17B3987D5E}"/>
              </a:ext>
            </a:extLst>
          </p:cNvPr>
          <p:cNvSpPr txBox="1"/>
          <p:nvPr/>
        </p:nvSpPr>
        <p:spPr>
          <a:xfrm>
            <a:off x="4306824" y="2505456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Intake Producer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90A9A2-8830-84CB-EE79-9F73430C0568}"/>
              </a:ext>
            </a:extLst>
          </p:cNvPr>
          <p:cNvSpPr txBox="1"/>
          <p:nvPr/>
        </p:nvSpPr>
        <p:spPr>
          <a:xfrm>
            <a:off x="4306824" y="2761488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A7B3C7"/>
                </a:solidFill>
                <a:latin typeface="Aptos" panose="020B0004020202020204" pitchFamily="34" charset="0"/>
              </a:rPr>
              <a:t>normalizes the brief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32A294A-A304-AB26-E59A-662C6D72F68E}"/>
              </a:ext>
            </a:extLst>
          </p:cNvPr>
          <p:cNvCxnSpPr/>
          <p:nvPr/>
        </p:nvCxnSpPr>
        <p:spPr>
          <a:xfrm>
            <a:off x="3991356" y="2871216"/>
            <a:ext cx="0" cy="310896"/>
          </a:xfrm>
          <a:prstGeom prst="line">
            <a:avLst/>
          </a:prstGeom>
          <a:ln w="1397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3DC2A03-1E99-289F-A6FF-71139DBD1BA2}"/>
              </a:ext>
            </a:extLst>
          </p:cNvPr>
          <p:cNvSpPr/>
          <p:nvPr/>
        </p:nvSpPr>
        <p:spPr>
          <a:xfrm>
            <a:off x="3822192" y="3236976"/>
            <a:ext cx="338328" cy="338328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E79B1-B2AE-DA0F-5614-B99ABE46B778}"/>
              </a:ext>
            </a:extLst>
          </p:cNvPr>
          <p:cNvSpPr txBox="1"/>
          <p:nvPr/>
        </p:nvSpPr>
        <p:spPr>
          <a:xfrm>
            <a:off x="3822192" y="3236976"/>
            <a:ext cx="338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F5BB04-9E1B-8283-C4F0-55C93123E3C5}"/>
              </a:ext>
            </a:extLst>
          </p:cNvPr>
          <p:cNvSpPr txBox="1"/>
          <p:nvPr/>
        </p:nvSpPr>
        <p:spPr>
          <a:xfrm>
            <a:off x="4306824" y="3227832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 Architect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4E1A43-CF37-878C-7594-9E18139E22EE}"/>
              </a:ext>
            </a:extLst>
          </p:cNvPr>
          <p:cNvSpPr txBox="1"/>
          <p:nvPr/>
        </p:nvSpPr>
        <p:spPr>
          <a:xfrm>
            <a:off x="4306824" y="3483864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A7B3C7"/>
                </a:solidFill>
                <a:latin typeface="Aptos" panose="020B0004020202020204" pitchFamily="34" charset="0"/>
              </a:rPr>
              <a:t>creates one beat per segment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6B643EE-0B5F-CE02-297E-4CF2DE4B9FE3}"/>
              </a:ext>
            </a:extLst>
          </p:cNvPr>
          <p:cNvCxnSpPr/>
          <p:nvPr/>
        </p:nvCxnSpPr>
        <p:spPr>
          <a:xfrm>
            <a:off x="3991356" y="3593592"/>
            <a:ext cx="0" cy="310896"/>
          </a:xfrm>
          <a:prstGeom prst="line">
            <a:avLst/>
          </a:prstGeom>
          <a:ln w="1397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E740824-5BA3-B719-4932-AFBC295D6800}"/>
              </a:ext>
            </a:extLst>
          </p:cNvPr>
          <p:cNvSpPr/>
          <p:nvPr/>
        </p:nvSpPr>
        <p:spPr>
          <a:xfrm>
            <a:off x="3822192" y="3959352"/>
            <a:ext cx="338328" cy="338328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926EE0-57C6-1007-FB03-B73C93AB6996}"/>
              </a:ext>
            </a:extLst>
          </p:cNvPr>
          <p:cNvSpPr txBox="1"/>
          <p:nvPr/>
        </p:nvSpPr>
        <p:spPr>
          <a:xfrm>
            <a:off x="3822192" y="3959352"/>
            <a:ext cx="338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0448B0-FA7C-2E3E-9D02-D42A09E3DB67}"/>
              </a:ext>
            </a:extLst>
          </p:cNvPr>
          <p:cNvSpPr txBox="1"/>
          <p:nvPr/>
        </p:nvSpPr>
        <p:spPr>
          <a:xfrm>
            <a:off x="4306824" y="3950208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Visual Bible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AC30F2-DF26-9817-8265-687C7214C0AD}"/>
              </a:ext>
            </a:extLst>
          </p:cNvPr>
          <p:cNvSpPr txBox="1"/>
          <p:nvPr/>
        </p:nvSpPr>
        <p:spPr>
          <a:xfrm>
            <a:off x="4306824" y="4206240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A7B3C7"/>
                </a:solidFill>
                <a:latin typeface="Aptos" panose="020B0004020202020204" pitchFamily="34" charset="0"/>
              </a:rPr>
              <a:t>consolidates continuity rules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55E820-E0DC-D6C4-23C9-8946CFDD3B05}"/>
              </a:ext>
            </a:extLst>
          </p:cNvPr>
          <p:cNvCxnSpPr/>
          <p:nvPr/>
        </p:nvCxnSpPr>
        <p:spPr>
          <a:xfrm>
            <a:off x="3991356" y="4315968"/>
            <a:ext cx="0" cy="310896"/>
          </a:xfrm>
          <a:prstGeom prst="line">
            <a:avLst/>
          </a:prstGeom>
          <a:ln w="1397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46EBDF8-8B86-627F-CE09-46B67B7F2AD9}"/>
              </a:ext>
            </a:extLst>
          </p:cNvPr>
          <p:cNvSpPr/>
          <p:nvPr/>
        </p:nvSpPr>
        <p:spPr>
          <a:xfrm>
            <a:off x="3822192" y="4681728"/>
            <a:ext cx="338328" cy="338328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CCCBE6-04E8-B18A-3543-3C61C808C960}"/>
              </a:ext>
            </a:extLst>
          </p:cNvPr>
          <p:cNvSpPr txBox="1"/>
          <p:nvPr/>
        </p:nvSpPr>
        <p:spPr>
          <a:xfrm>
            <a:off x="3822192" y="4681728"/>
            <a:ext cx="338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F3084C-1896-0803-D50C-B24B2EC26D2A}"/>
              </a:ext>
            </a:extLst>
          </p:cNvPr>
          <p:cNvSpPr txBox="1"/>
          <p:nvPr/>
        </p:nvSpPr>
        <p:spPr>
          <a:xfrm>
            <a:off x="4306824" y="4672584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Storyboard Artist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4A1933-9057-EFF4-C467-3FF604339451}"/>
              </a:ext>
            </a:extLst>
          </p:cNvPr>
          <p:cNvSpPr txBox="1"/>
          <p:nvPr/>
        </p:nvSpPr>
        <p:spPr>
          <a:xfrm>
            <a:off x="4306824" y="4928616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A7B3C7"/>
                </a:solidFill>
                <a:latin typeface="Aptos" panose="020B0004020202020204" pitchFamily="34" charset="0"/>
              </a:rPr>
              <a:t>writes timed scene cards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7BC4288-92E6-FBFA-76D3-20C961EDFFFD}"/>
              </a:ext>
            </a:extLst>
          </p:cNvPr>
          <p:cNvCxnSpPr/>
          <p:nvPr/>
        </p:nvCxnSpPr>
        <p:spPr>
          <a:xfrm>
            <a:off x="3991356" y="5038344"/>
            <a:ext cx="0" cy="310896"/>
          </a:xfrm>
          <a:prstGeom prst="line">
            <a:avLst/>
          </a:prstGeom>
          <a:ln w="1397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1C933B36-BF12-9610-7DB4-822B2DA5CCE8}"/>
              </a:ext>
            </a:extLst>
          </p:cNvPr>
          <p:cNvSpPr/>
          <p:nvPr/>
        </p:nvSpPr>
        <p:spPr>
          <a:xfrm>
            <a:off x="3822192" y="5404104"/>
            <a:ext cx="338328" cy="338328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B3EBFE-F623-BF11-B35C-4FA9BF07B37B}"/>
              </a:ext>
            </a:extLst>
          </p:cNvPr>
          <p:cNvSpPr txBox="1"/>
          <p:nvPr/>
        </p:nvSpPr>
        <p:spPr>
          <a:xfrm>
            <a:off x="3822192" y="5404104"/>
            <a:ext cx="338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51D89F-8293-8B21-D3A1-65AF267BBBB0}"/>
              </a:ext>
            </a:extLst>
          </p:cNvPr>
          <p:cNvSpPr txBox="1"/>
          <p:nvPr/>
        </p:nvSpPr>
        <p:spPr>
          <a:xfrm>
            <a:off x="4306824" y="5394960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Prompt Engineers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1F6F70-2F2E-3821-13D8-C8F449AFA1B7}"/>
              </a:ext>
            </a:extLst>
          </p:cNvPr>
          <p:cNvSpPr txBox="1"/>
          <p:nvPr/>
        </p:nvSpPr>
        <p:spPr>
          <a:xfrm>
            <a:off x="4306824" y="5650992"/>
            <a:ext cx="19019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A7B3C7"/>
                </a:solidFill>
                <a:latin typeface="Aptos" panose="020B0004020202020204" pitchFamily="34" charset="0"/>
              </a:rPr>
              <a:t>write image + video prompts per scene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214BFD-8256-D942-12F4-ED79ADB25817}"/>
              </a:ext>
            </a:extLst>
          </p:cNvPr>
          <p:cNvSpPr txBox="1"/>
          <p:nvPr/>
        </p:nvSpPr>
        <p:spPr>
          <a:xfrm>
            <a:off x="3813048" y="6099048"/>
            <a:ext cx="2450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F59E0B"/>
                </a:solidFill>
                <a:latin typeface="Aptos" panose="020B0004020202020204" pitchFamily="34" charset="0"/>
              </a:rPr>
              <a:t>Plan influence is bound when the storyboard runs; later plan changes require storyboard regeneration.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5EB367-F2EB-0A60-96FB-ADAB89440FFC}"/>
              </a:ext>
            </a:extLst>
          </p:cNvPr>
          <p:cNvSpPr txBox="1"/>
          <p:nvPr/>
        </p:nvSpPr>
        <p:spPr>
          <a:xfrm>
            <a:off x="6812280" y="1984248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THE APP MAKES THE CREW LEGIBLE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A63AEE3-D4BA-F9A2-347A-38762D737222}"/>
              </a:ext>
            </a:extLst>
          </p:cNvPr>
          <p:cNvSpPr/>
          <p:nvPr/>
        </p:nvSpPr>
        <p:spPr>
          <a:xfrm>
            <a:off x="6812280" y="2267712"/>
            <a:ext cx="4892040" cy="416052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95919F5-6C2B-50BF-F1FD-78050FAD10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818" y="2304288"/>
            <a:ext cx="3002964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C4A636-B8FC-75A8-B9DC-7ABDC92C73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1E446-D9B4-114D-05CD-83B217ECF488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DB4EF-22A8-D73C-28EB-584C7A6CB82D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88A51-2A88-2922-F972-F0CDB1508E57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STORYBOARD + PROMPTS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F5D589-F084-DAD0-9485-BC3642079C3A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BA2380B-8485-1619-D28A-29D4836C60D4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77621-3042-93C9-A54E-60218D77BA10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D08D48-8C9D-ABB0-4A73-B72124C9B0A1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GENERATION CONTRACT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D7E8E-A669-B38C-CAD2-B6BD9257C54A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Every scene becomes a controllable media instruction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C36D9-D8B8-34C1-7830-2718587C2454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The storyboard connects creative intent to two keyframes, a motion-focused video prompt, model settings and an approval decision.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8C3A65-EC28-B477-30F5-551951C2AE09}"/>
              </a:ext>
            </a:extLst>
          </p:cNvPr>
          <p:cNvSpPr/>
          <p:nvPr/>
        </p:nvSpPr>
        <p:spPr>
          <a:xfrm>
            <a:off x="502920" y="2039112"/>
            <a:ext cx="2889504" cy="4096512"/>
          </a:xfrm>
          <a:prstGeom prst="roundRect">
            <a:avLst/>
          </a:prstGeom>
          <a:solidFill>
            <a:srgbClr val="131A26"/>
          </a:solidFill>
          <a:ln w="1143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2C42F-6F56-6E76-CBFB-743E9D0F8BDE}"/>
              </a:ext>
            </a:extLst>
          </p:cNvPr>
          <p:cNvSpPr txBox="1"/>
          <p:nvPr/>
        </p:nvSpPr>
        <p:spPr>
          <a:xfrm>
            <a:off x="731520" y="2276856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SCENE CARD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138AE-AACA-9BD5-A2E2-A741883C1C03}"/>
              </a:ext>
            </a:extLst>
          </p:cNvPr>
          <p:cNvSpPr txBox="1"/>
          <p:nvPr/>
        </p:nvSpPr>
        <p:spPr>
          <a:xfrm>
            <a:off x="731520" y="2569464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 fontScale="92500"/>
          </a:bodyPr>
          <a:lstStyle/>
          <a:p>
            <a:r>
              <a:rPr lang="en-US" sz="1600" b="1">
                <a:solidFill>
                  <a:srgbClr val="F8FAFC"/>
                </a:solidFill>
                <a:latin typeface="Aptos Display" panose="020B0004020202020204" pitchFamily="34" charset="0"/>
              </a:rPr>
              <a:t>The creative source of truth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4EAEED-6035-CB25-5A6A-7400E56D93B9}"/>
              </a:ext>
            </a:extLst>
          </p:cNvPr>
          <p:cNvSpPr/>
          <p:nvPr/>
        </p:nvSpPr>
        <p:spPr>
          <a:xfrm>
            <a:off x="758952" y="3172968"/>
            <a:ext cx="155448" cy="15544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519D88-90B9-C5AB-D031-142AFC937C9B}"/>
              </a:ext>
            </a:extLst>
          </p:cNvPr>
          <p:cNvSpPr txBox="1"/>
          <p:nvPr/>
        </p:nvSpPr>
        <p:spPr>
          <a:xfrm>
            <a:off x="1024128" y="3136392"/>
            <a:ext cx="20299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Objective + story beat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84E49E-E5DB-BDB2-2FB9-AFC4AD5FF5CD}"/>
              </a:ext>
            </a:extLst>
          </p:cNvPr>
          <p:cNvSpPr/>
          <p:nvPr/>
        </p:nvSpPr>
        <p:spPr>
          <a:xfrm>
            <a:off x="758952" y="3648456"/>
            <a:ext cx="155448" cy="15544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87DEFC-7D08-1978-21FD-B33AEF1A3B2D}"/>
              </a:ext>
            </a:extLst>
          </p:cNvPr>
          <p:cNvSpPr txBox="1"/>
          <p:nvPr/>
        </p:nvSpPr>
        <p:spPr>
          <a:xfrm>
            <a:off x="1024128" y="3611880"/>
            <a:ext cx="20299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Visual + action description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0353C6-9834-360E-6C01-A6BBF5E4BC53}"/>
              </a:ext>
            </a:extLst>
          </p:cNvPr>
          <p:cNvSpPr/>
          <p:nvPr/>
        </p:nvSpPr>
        <p:spPr>
          <a:xfrm>
            <a:off x="758952" y="4123944"/>
            <a:ext cx="155448" cy="15544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6A0AA-22A2-FEFF-E0C5-E22133D87A65}"/>
              </a:ext>
            </a:extLst>
          </p:cNvPr>
          <p:cNvSpPr txBox="1"/>
          <p:nvPr/>
        </p:nvSpPr>
        <p:spPr>
          <a:xfrm>
            <a:off x="1024128" y="4087368"/>
            <a:ext cx="20299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Camera movement + timing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E176E3-A900-E2C8-9D54-8CF69E22729A}"/>
              </a:ext>
            </a:extLst>
          </p:cNvPr>
          <p:cNvSpPr/>
          <p:nvPr/>
        </p:nvSpPr>
        <p:spPr>
          <a:xfrm>
            <a:off x="758952" y="4599432"/>
            <a:ext cx="155448" cy="15544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5B2D8A-12C1-398B-CD6F-04C4D8C87A53}"/>
              </a:ext>
            </a:extLst>
          </p:cNvPr>
          <p:cNvSpPr txBox="1"/>
          <p:nvPr/>
        </p:nvSpPr>
        <p:spPr>
          <a:xfrm>
            <a:off x="1024128" y="4562856"/>
            <a:ext cx="20299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Cast present + wardrobe state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291F2E-38F2-C1B1-A088-2DD45718EFCD}"/>
              </a:ext>
            </a:extLst>
          </p:cNvPr>
          <p:cNvSpPr/>
          <p:nvPr/>
        </p:nvSpPr>
        <p:spPr>
          <a:xfrm>
            <a:off x="758952" y="5074920"/>
            <a:ext cx="155448" cy="155448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698634-8589-70A8-65C8-186EE2F64311}"/>
              </a:ext>
            </a:extLst>
          </p:cNvPr>
          <p:cNvSpPr txBox="1"/>
          <p:nvPr/>
        </p:nvSpPr>
        <p:spPr>
          <a:xfrm>
            <a:off x="1024128" y="5038344"/>
            <a:ext cx="20299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Continuity into the next scene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D7F130-03DF-A99D-ABDC-83EB63AFD5AC}"/>
              </a:ext>
            </a:extLst>
          </p:cNvPr>
          <p:cNvSpPr/>
          <p:nvPr/>
        </p:nvSpPr>
        <p:spPr>
          <a:xfrm>
            <a:off x="731520" y="5632704"/>
            <a:ext cx="1700784" cy="310896"/>
          </a:xfrm>
          <a:prstGeom prst="roundRect">
            <a:avLst/>
          </a:prstGeom>
          <a:solidFill>
            <a:srgbClr val="12344A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C55218-70B3-ABAE-42F8-E4B2B8D68602}"/>
              </a:ext>
            </a:extLst>
          </p:cNvPr>
          <p:cNvSpPr txBox="1"/>
          <p:nvPr/>
        </p:nvSpPr>
        <p:spPr>
          <a:xfrm>
            <a:off x="731520" y="563270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Editable before render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638FB6-039B-8058-A835-ECE596D785C6}"/>
              </a:ext>
            </a:extLst>
          </p:cNvPr>
          <p:cNvCxnSpPr/>
          <p:nvPr/>
        </p:nvCxnSpPr>
        <p:spPr>
          <a:xfrm>
            <a:off x="3456432" y="3931920"/>
            <a:ext cx="310896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0D4896-11B4-67C0-558D-6A95C591C857}"/>
              </a:ext>
            </a:extLst>
          </p:cNvPr>
          <p:cNvSpPr/>
          <p:nvPr/>
        </p:nvSpPr>
        <p:spPr>
          <a:xfrm>
            <a:off x="3813048" y="2039112"/>
            <a:ext cx="3776472" cy="409651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D0618B-5949-89B1-DF93-6EBD01B2719D}"/>
              </a:ext>
            </a:extLst>
          </p:cNvPr>
          <p:cNvSpPr txBox="1"/>
          <p:nvPr/>
        </p:nvSpPr>
        <p:spPr>
          <a:xfrm>
            <a:off x="4050792" y="2276856"/>
            <a:ext cx="1645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KEYFRAME PROMPTS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3A4BF6-1C13-D962-06E3-D1EF0AEA4BC3}"/>
              </a:ext>
            </a:extLst>
          </p:cNvPr>
          <p:cNvSpPr txBox="1"/>
          <p:nvPr/>
        </p:nvSpPr>
        <p:spPr>
          <a:xfrm>
            <a:off x="4050792" y="2615184"/>
            <a:ext cx="1188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Start state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E39A99-B092-0FB7-7FE3-FEE2E8A4DD36}"/>
              </a:ext>
            </a:extLst>
          </p:cNvPr>
          <p:cNvSpPr txBox="1"/>
          <p:nvPr/>
        </p:nvSpPr>
        <p:spPr>
          <a:xfrm>
            <a:off x="4050792" y="29077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Establish framing, subject, set, wardrobe and lighting.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8AB20D-7530-217C-C82E-837FCF8EBC3B}"/>
              </a:ext>
            </a:extLst>
          </p:cNvPr>
          <p:cNvCxnSpPr/>
          <p:nvPr/>
        </p:nvCxnSpPr>
        <p:spPr>
          <a:xfrm>
            <a:off x="4096512" y="3538728"/>
            <a:ext cx="3145536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7C463A-702C-4163-1E3C-719B5EBEEB41}"/>
              </a:ext>
            </a:extLst>
          </p:cNvPr>
          <p:cNvSpPr/>
          <p:nvPr/>
        </p:nvSpPr>
        <p:spPr>
          <a:xfrm>
            <a:off x="4233672" y="3374136"/>
            <a:ext cx="2724912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4AEF6-790C-116C-2745-A71DCAEF5D35}"/>
              </a:ext>
            </a:extLst>
          </p:cNvPr>
          <p:cNvSpPr txBox="1"/>
          <p:nvPr/>
        </p:nvSpPr>
        <p:spPr>
          <a:xfrm>
            <a:off x="4233672" y="3374136"/>
            <a:ext cx="2724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818CF8"/>
                </a:solidFill>
                <a:latin typeface="Aptos" panose="020B0004020202020204" pitchFamily="34" charset="0"/>
              </a:rPr>
              <a:t>PREVIOUS END FRAME CAN CARRY FORWARD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3AF87B-8CCF-F3C7-08E9-9D5B4122282C}"/>
              </a:ext>
            </a:extLst>
          </p:cNvPr>
          <p:cNvSpPr txBox="1"/>
          <p:nvPr/>
        </p:nvSpPr>
        <p:spPr>
          <a:xfrm>
            <a:off x="4050792" y="3931920"/>
            <a:ext cx="1188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End state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9852F0-85D4-3AB3-CD87-9AA4CA0F0D70}"/>
              </a:ext>
            </a:extLst>
          </p:cNvPr>
          <p:cNvSpPr txBox="1"/>
          <p:nvPr/>
        </p:nvSpPr>
        <p:spPr>
          <a:xfrm>
            <a:off x="4050792" y="4224528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Describe where the scene must land; optionally condition on the opening frame.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E887F55-3708-2294-6E38-B85C47235438}"/>
              </a:ext>
            </a:extLst>
          </p:cNvPr>
          <p:cNvSpPr/>
          <p:nvPr/>
        </p:nvSpPr>
        <p:spPr>
          <a:xfrm>
            <a:off x="4050792" y="4956048"/>
            <a:ext cx="3255264" cy="758952"/>
          </a:xfrm>
          <a:prstGeom prst="roundRect">
            <a:avLst/>
          </a:prstGeom>
          <a:solidFill>
            <a:srgbClr val="0F1520"/>
          </a:solidFill>
          <a:ln w="889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8967D2-3720-0566-980F-CC994C33FFA5}"/>
              </a:ext>
            </a:extLst>
          </p:cNvPr>
          <p:cNvSpPr txBox="1"/>
          <p:nvPr/>
        </p:nvSpPr>
        <p:spPr>
          <a:xfrm>
            <a:off x="4242816" y="5111496"/>
            <a:ext cx="12618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Model-aware rules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7CDC6E-1BCB-9614-038B-A2FCB1D5EC8B}"/>
              </a:ext>
            </a:extLst>
          </p:cNvPr>
          <p:cNvSpPr txBox="1"/>
          <p:nvPr/>
        </p:nvSpPr>
        <p:spPr>
          <a:xfrm>
            <a:off x="4242816" y="5367528"/>
            <a:ext cx="2779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Cast scope + wardrobe + LoRAs + family directive + exclusions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2051F6-7D1E-FC4F-6C0E-395399662E74}"/>
              </a:ext>
            </a:extLst>
          </p:cNvPr>
          <p:cNvCxnSpPr/>
          <p:nvPr/>
        </p:nvCxnSpPr>
        <p:spPr>
          <a:xfrm>
            <a:off x="7653528" y="3931920"/>
            <a:ext cx="310896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0777627-CCE7-54F2-D8FA-429F7DEC0D8B}"/>
              </a:ext>
            </a:extLst>
          </p:cNvPr>
          <p:cNvSpPr/>
          <p:nvPr/>
        </p:nvSpPr>
        <p:spPr>
          <a:xfrm>
            <a:off x="8010144" y="2039112"/>
            <a:ext cx="3694176" cy="4096512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D1B273-7310-DE8C-3714-8D5BEE8C53FA}"/>
              </a:ext>
            </a:extLst>
          </p:cNvPr>
          <p:cNvSpPr txBox="1"/>
          <p:nvPr/>
        </p:nvSpPr>
        <p:spPr>
          <a:xfrm>
            <a:off x="8247888" y="2276856"/>
            <a:ext cx="15544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VIDEO PROMPT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DE0488-4DE7-E900-8D79-B0DFE3834405}"/>
              </a:ext>
            </a:extLst>
          </p:cNvPr>
          <p:cNvSpPr txBox="1"/>
          <p:nvPr/>
        </p:nvSpPr>
        <p:spPr>
          <a:xfrm>
            <a:off x="8247888" y="2569464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 Display" panose="020B0004020202020204" pitchFamily="34" charset="0"/>
              </a:rPr>
              <a:t>Motion between the frames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FDFB9-F360-C593-F064-B336EE3B07EE}"/>
              </a:ext>
            </a:extLst>
          </p:cNvPr>
          <p:cNvSpPr txBox="1"/>
          <p:nvPr/>
        </p:nvSpPr>
        <p:spPr>
          <a:xfrm>
            <a:off x="8247888" y="3136392"/>
            <a:ext cx="1481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Action progression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A0FA78-E837-DEA6-613B-81E707E38E8F}"/>
              </a:ext>
            </a:extLst>
          </p:cNvPr>
          <p:cNvSpPr txBox="1"/>
          <p:nvPr/>
        </p:nvSpPr>
        <p:spPr>
          <a:xfrm>
            <a:off x="8247888" y="3529584"/>
            <a:ext cx="177393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Camera motion + pacing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80D68A-0E20-7A62-FE45-337D3181916F}"/>
              </a:ext>
            </a:extLst>
          </p:cNvPr>
          <p:cNvSpPr txBox="1"/>
          <p:nvPr/>
        </p:nvSpPr>
        <p:spPr>
          <a:xfrm>
            <a:off x="8247888" y="3922776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Identity + continuity constraints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46A5B5-4610-4A72-D939-DDE7D01ECAFE}"/>
              </a:ext>
            </a:extLst>
          </p:cNvPr>
          <p:cNvSpPr txBox="1"/>
          <p:nvPr/>
        </p:nvSpPr>
        <p:spPr>
          <a:xfrm>
            <a:off x="8247888" y="4315968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" panose="020B0004020202020204" pitchFamily="34" charset="0"/>
              </a:rPr>
              <a:t>Duration + native audio direction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6CDC035-94DF-2C00-42FF-668D58D0B817}"/>
              </a:ext>
            </a:extLst>
          </p:cNvPr>
          <p:cNvSpPr/>
          <p:nvPr/>
        </p:nvSpPr>
        <p:spPr>
          <a:xfrm>
            <a:off x="8247888" y="4828032"/>
            <a:ext cx="3218688" cy="896112"/>
          </a:xfrm>
          <a:prstGeom prst="roundRect">
            <a:avLst/>
          </a:prstGeom>
          <a:solidFill>
            <a:srgbClr val="432A0B"/>
          </a:solidFill>
          <a:ln w="1016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81E835-8CC5-18B2-1295-BDADC25522CB}"/>
              </a:ext>
            </a:extLst>
          </p:cNvPr>
          <p:cNvSpPr txBox="1"/>
          <p:nvPr/>
        </p:nvSpPr>
        <p:spPr>
          <a:xfrm>
            <a:off x="8458200" y="5001768"/>
            <a:ext cx="1280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F59E0B"/>
                </a:solidFill>
                <a:latin typeface="Aptos" panose="020B0004020202020204" pitchFamily="34" charset="0"/>
              </a:rPr>
              <a:t>WAN2GP-READY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104F5B-2050-3FB2-2535-AA0A09F006C2}"/>
              </a:ext>
            </a:extLst>
          </p:cNvPr>
          <p:cNvSpPr txBox="1"/>
          <p:nvPr/>
        </p:nvSpPr>
        <p:spPr>
          <a:xfrm>
            <a:off x="8458200" y="5294376"/>
            <a:ext cx="27340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F8FAFC"/>
                </a:solidFill>
                <a:latin typeface="Aptos" panose="020B0004020202020204" pitchFamily="34" charset="0"/>
              </a:rPr>
              <a:t>Prompt + schema-valid settings + media references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991174-B4BC-E4CF-A230-A75AB2168FE4}"/>
              </a:ext>
            </a:extLst>
          </p:cNvPr>
          <p:cNvSpPr txBox="1"/>
          <p:nvPr/>
        </p:nvSpPr>
        <p:spPr>
          <a:xfrm>
            <a:off x="3840480" y="6199632"/>
            <a:ext cx="4206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The scene card remains editable; image and video prompt passes can be rewritten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258579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31564-F3B1-6353-E57F-FF16CA2D7C0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BB2E2-36C3-7697-E7A2-B2313A22F128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6FBAC-26BC-7221-1E3B-F6844A785173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73B06-C7DD-3F58-88C9-25F5C0271828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TECHNICAL INFOGRAPHIC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21DF49-1279-059B-1B7E-97A8FD92E8AB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AB94BF-85FF-5DAD-7333-F4C11C7BF004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43F3B-43C0-1E56-BEFC-957E07DC006B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1730A-0B39-4B87-5D5E-6E9B3283FD6A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FOR SOLUTION ENGINEERS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C478E-1C1D-191A-6946-ADE5835BDA92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Artifact-driven orchestration across local AI 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8670C-19A1-93A8-4B97-217DDCBEEDE3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A TypeScript control plane stores creative state, resolves per-scene context, and sends schema-valid generation jobs to Wan2GP over MCP.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AEF74D-8059-BAD4-1CCB-B5FF5A31B335}"/>
              </a:ext>
            </a:extLst>
          </p:cNvPr>
          <p:cNvSpPr/>
          <p:nvPr/>
        </p:nvSpPr>
        <p:spPr>
          <a:xfrm>
            <a:off x="50292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FFE7F-7BA2-25BB-F5B5-458991440675}"/>
              </a:ext>
            </a:extLst>
          </p:cNvPr>
          <p:cNvSpPr txBox="1"/>
          <p:nvPr/>
        </p:nvSpPr>
        <p:spPr>
          <a:xfrm>
            <a:off x="62179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EXPERIENCE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EB7E9-12B9-4FD6-2230-BD8FF229D336}"/>
              </a:ext>
            </a:extLst>
          </p:cNvPr>
          <p:cNvSpPr txBox="1"/>
          <p:nvPr/>
        </p:nvSpPr>
        <p:spPr>
          <a:xfrm>
            <a:off x="62179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Next.js UI
Projects | Canvas | Storyboard | Console | Assembly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B4A82C-A3DF-0B2B-6CE5-6B946F9B7491}"/>
              </a:ext>
            </a:extLst>
          </p:cNvPr>
          <p:cNvSpPr/>
          <p:nvPr/>
        </p:nvSpPr>
        <p:spPr>
          <a:xfrm>
            <a:off x="292608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E7828-18A4-4FE5-2802-C385D95886D9}"/>
              </a:ext>
            </a:extLst>
          </p:cNvPr>
          <p:cNvSpPr txBox="1"/>
          <p:nvPr/>
        </p:nvSpPr>
        <p:spPr>
          <a:xfrm>
            <a:off x="304495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CONTROL PLANE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2EACDF-E46B-5BB7-1B22-9952861C4878}"/>
              </a:ext>
            </a:extLst>
          </p:cNvPr>
          <p:cNvSpPr txBox="1"/>
          <p:nvPr/>
        </p:nvSpPr>
        <p:spPr>
          <a:xfrm>
            <a:off x="304495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API routes + services
Orchestrators | queues | approvals | exports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DE8C26-834E-8D7C-91DE-B1E57C67E8AD}"/>
              </a:ext>
            </a:extLst>
          </p:cNvPr>
          <p:cNvSpPr/>
          <p:nvPr/>
        </p:nvSpPr>
        <p:spPr>
          <a:xfrm>
            <a:off x="534924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0C5476-6635-EA8F-BA7D-FF383EFA2CAD}"/>
              </a:ext>
            </a:extLst>
          </p:cNvPr>
          <p:cNvSpPr txBox="1"/>
          <p:nvPr/>
        </p:nvSpPr>
        <p:spPr>
          <a:xfrm>
            <a:off x="546811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CREATIVE ARTIFACTS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E16C62-A5C1-220E-BE44-EC6B80A9150C}"/>
              </a:ext>
            </a:extLst>
          </p:cNvPr>
          <p:cNvSpPr txBox="1"/>
          <p:nvPr/>
        </p:nvSpPr>
        <p:spPr>
          <a:xfrm>
            <a:off x="546811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Zod-validated records
Brief | plans | scenes | prompts | attempts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283876-EBCB-8D34-C029-0E1E66C2AAD9}"/>
              </a:ext>
            </a:extLst>
          </p:cNvPr>
          <p:cNvSpPr/>
          <p:nvPr/>
        </p:nvSpPr>
        <p:spPr>
          <a:xfrm>
            <a:off x="777240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9CFEEF-1262-8869-738F-8B91E78DAFB1}"/>
              </a:ext>
            </a:extLst>
          </p:cNvPr>
          <p:cNvSpPr txBox="1"/>
          <p:nvPr/>
        </p:nvSpPr>
        <p:spPr>
          <a:xfrm>
            <a:off x="789127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MCP ADAPTER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26459-1021-9E6D-1AF8-8408687270EC}"/>
              </a:ext>
            </a:extLst>
          </p:cNvPr>
          <p:cNvSpPr txBox="1"/>
          <p:nvPr/>
        </p:nvSpPr>
        <p:spPr>
          <a:xfrm>
            <a:off x="789127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Wan2GP client
Discover | schema | submit | poll | cancel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DAE373-7C28-4CFE-43A5-69EAEED8F153}"/>
              </a:ext>
            </a:extLst>
          </p:cNvPr>
          <p:cNvSpPr/>
          <p:nvPr/>
        </p:nvSpPr>
        <p:spPr>
          <a:xfrm>
            <a:off x="10195560" y="2011680"/>
            <a:ext cx="1490472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FCB579-84C1-8F39-8679-8D5CB4C284D1}"/>
              </a:ext>
            </a:extLst>
          </p:cNvPr>
          <p:cNvSpPr txBox="1"/>
          <p:nvPr/>
        </p:nvSpPr>
        <p:spPr>
          <a:xfrm>
            <a:off x="10314432" y="2157984"/>
            <a:ext cx="12527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MEDIA ENGINE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09DF28-2855-8399-6426-646968695780}"/>
              </a:ext>
            </a:extLst>
          </p:cNvPr>
          <p:cNvSpPr txBox="1"/>
          <p:nvPr/>
        </p:nvSpPr>
        <p:spPr>
          <a:xfrm>
            <a:off x="10314432" y="2496312"/>
            <a:ext cx="12527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Installed model families
Image | video | audio | postprocess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02D75E-DA14-4F7E-327A-DE512F956ECB}"/>
              </a:ext>
            </a:extLst>
          </p:cNvPr>
          <p:cNvCxnSpPr/>
          <p:nvPr/>
        </p:nvCxnSpPr>
        <p:spPr>
          <a:xfrm>
            <a:off x="268833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AAB41D-623D-6AA1-F3B4-94175B31C0EC}"/>
              </a:ext>
            </a:extLst>
          </p:cNvPr>
          <p:cNvCxnSpPr/>
          <p:nvPr/>
        </p:nvCxnSpPr>
        <p:spPr>
          <a:xfrm>
            <a:off x="511149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291863-7C42-6D34-B8DF-E99AF6D64C31}"/>
              </a:ext>
            </a:extLst>
          </p:cNvPr>
          <p:cNvCxnSpPr/>
          <p:nvPr/>
        </p:nvCxnSpPr>
        <p:spPr>
          <a:xfrm>
            <a:off x="753465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364221-9596-25C0-85BE-9441B5512A8E}"/>
              </a:ext>
            </a:extLst>
          </p:cNvPr>
          <p:cNvCxnSpPr/>
          <p:nvPr/>
        </p:nvCxnSpPr>
        <p:spPr>
          <a:xfrm>
            <a:off x="995781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E7EBB2-509E-642F-8AF4-F56168050AEF}"/>
              </a:ext>
            </a:extLst>
          </p:cNvPr>
          <p:cNvSpPr txBox="1"/>
          <p:nvPr/>
        </p:nvSpPr>
        <p:spPr>
          <a:xfrm>
            <a:off x="502920" y="3611880"/>
            <a:ext cx="4023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PER-SCENE RESOLUTION BEFORE THE PROMPT CALL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26577C-A58F-BA24-4CA3-78452FEDAE71}"/>
              </a:ext>
            </a:extLst>
          </p:cNvPr>
          <p:cNvSpPr/>
          <p:nvPr/>
        </p:nvSpPr>
        <p:spPr>
          <a:xfrm>
            <a:off x="502920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E70AE9-BE6B-594E-009A-38260F80F6F6}"/>
              </a:ext>
            </a:extLst>
          </p:cNvPr>
          <p:cNvSpPr txBox="1"/>
          <p:nvPr/>
        </p:nvSpPr>
        <p:spPr>
          <a:xfrm>
            <a:off x="640080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Cast scope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927BC-1CA2-98DA-2ECA-DE579E19A027}"/>
              </a:ext>
            </a:extLst>
          </p:cNvPr>
          <p:cNvSpPr txBox="1"/>
          <p:nvPr/>
        </p:nvSpPr>
        <p:spPr>
          <a:xfrm>
            <a:off x="640080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Who is in this shot?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927B7A-9F22-EEA5-7F3C-032B48302FA1}"/>
              </a:ext>
            </a:extLst>
          </p:cNvPr>
          <p:cNvSpPr/>
          <p:nvPr/>
        </p:nvSpPr>
        <p:spPr>
          <a:xfrm>
            <a:off x="2679192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431A80-90C4-D3FB-B704-487B077301E4}"/>
              </a:ext>
            </a:extLst>
          </p:cNvPr>
          <p:cNvSpPr txBox="1"/>
          <p:nvPr/>
        </p:nvSpPr>
        <p:spPr>
          <a:xfrm>
            <a:off x="2816352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Wardrobe timeline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ACF188-0E1A-BC4D-564F-93C952D9C22D}"/>
              </a:ext>
            </a:extLst>
          </p:cNvPr>
          <p:cNvSpPr txBox="1"/>
          <p:nvPr/>
        </p:nvSpPr>
        <p:spPr>
          <a:xfrm>
            <a:off x="2816352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What are they wearing now?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3CC3454-FF9A-9D41-1D1A-8D97C7E27711}"/>
              </a:ext>
            </a:extLst>
          </p:cNvPr>
          <p:cNvSpPr/>
          <p:nvPr/>
        </p:nvSpPr>
        <p:spPr>
          <a:xfrm>
            <a:off x="4855464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3DEDD7-969A-A7FC-1AA0-E29650FF7949}"/>
              </a:ext>
            </a:extLst>
          </p:cNvPr>
          <p:cNvSpPr txBox="1"/>
          <p:nvPr/>
        </p:nvSpPr>
        <p:spPr>
          <a:xfrm>
            <a:off x="4992624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Model family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53CDB1-B3E1-7600-14FF-B60DCF28FFD8}"/>
              </a:ext>
            </a:extLst>
          </p:cNvPr>
          <p:cNvSpPr txBox="1"/>
          <p:nvPr/>
        </p:nvSpPr>
        <p:spPr>
          <a:xfrm>
            <a:off x="4992624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Which prompt grammar applies?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48EAB1-E6C3-3A2D-683E-0AFAFD216B88}"/>
              </a:ext>
            </a:extLst>
          </p:cNvPr>
          <p:cNvSpPr/>
          <p:nvPr/>
        </p:nvSpPr>
        <p:spPr>
          <a:xfrm>
            <a:off x="7031736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E00681-B950-3EE8-22A3-089FE5812680}"/>
              </a:ext>
            </a:extLst>
          </p:cNvPr>
          <p:cNvSpPr txBox="1"/>
          <p:nvPr/>
        </p:nvSpPr>
        <p:spPr>
          <a:xfrm>
            <a:off x="7168896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Continuity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C28D20-AB02-83EC-2AFA-806DACC13E3B}"/>
              </a:ext>
            </a:extLst>
          </p:cNvPr>
          <p:cNvSpPr txBox="1"/>
          <p:nvPr/>
        </p:nvSpPr>
        <p:spPr>
          <a:xfrm>
            <a:off x="7168896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Cut, carried frame or clip continuation?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FF82760-84AE-53A6-7ACE-750FDE444591}"/>
              </a:ext>
            </a:extLst>
          </p:cNvPr>
          <p:cNvCxnSpPr/>
          <p:nvPr/>
        </p:nvCxnSpPr>
        <p:spPr>
          <a:xfrm>
            <a:off x="9171432" y="4361688"/>
            <a:ext cx="411480" cy="0"/>
          </a:xfrm>
          <a:prstGeom prst="line">
            <a:avLst/>
          </a:prstGeom>
          <a:ln w="19050">
            <a:solidFill>
              <a:srgbClr val="818CF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2F74395-6958-A5D9-331A-8A13AEB986EE}"/>
              </a:ext>
            </a:extLst>
          </p:cNvPr>
          <p:cNvSpPr/>
          <p:nvPr/>
        </p:nvSpPr>
        <p:spPr>
          <a:xfrm>
            <a:off x="9646920" y="3858768"/>
            <a:ext cx="2039112" cy="1005840"/>
          </a:xfrm>
          <a:prstGeom prst="roundRect">
            <a:avLst/>
          </a:prstGeom>
          <a:solidFill>
            <a:srgbClr val="182131"/>
          </a:solidFill>
          <a:ln w="1397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20BF1A-3498-2A21-3AAC-5E0621702554}"/>
              </a:ext>
            </a:extLst>
          </p:cNvPr>
          <p:cNvSpPr txBox="1"/>
          <p:nvPr/>
        </p:nvSpPr>
        <p:spPr>
          <a:xfrm>
            <a:off x="9802368" y="4050792"/>
            <a:ext cx="172821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2 calls / scene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06EC35-73F3-0209-C26B-0C178CF66FC5}"/>
              </a:ext>
            </a:extLst>
          </p:cNvPr>
          <p:cNvSpPr txBox="1"/>
          <p:nvPr/>
        </p:nvSpPr>
        <p:spPr>
          <a:xfrm>
            <a:off x="9802368" y="4398264"/>
            <a:ext cx="172821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20" b="1">
                <a:solidFill>
                  <a:srgbClr val="818CF8"/>
                </a:solidFill>
                <a:latin typeface="Aptos" panose="020B0004020202020204" pitchFamily="34" charset="0"/>
              </a:rPr>
              <a:t>image pass + video pass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826257-B983-9789-7A9C-C18A6C2048B2}"/>
              </a:ext>
            </a:extLst>
          </p:cNvPr>
          <p:cNvSpPr txBox="1"/>
          <p:nvPr/>
        </p:nvSpPr>
        <p:spPr>
          <a:xfrm>
            <a:off x="502920" y="5175504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OPTIONAL LOCAL SIDECARS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B3541A2-D72D-2E68-CA70-26E45E0EDE38}"/>
              </a:ext>
            </a:extLst>
          </p:cNvPr>
          <p:cNvSpPr/>
          <p:nvPr/>
        </p:nvSpPr>
        <p:spPr>
          <a:xfrm>
            <a:off x="502920" y="5486400"/>
            <a:ext cx="2487168" cy="329184"/>
          </a:xfrm>
          <a:prstGeom prst="roundRect">
            <a:avLst/>
          </a:prstGeom>
          <a:solidFill>
            <a:srgbClr val="12344A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8A3003-ADC0-46EF-792D-8B55CD132583}"/>
              </a:ext>
            </a:extLst>
          </p:cNvPr>
          <p:cNvSpPr txBox="1"/>
          <p:nvPr/>
        </p:nvSpPr>
        <p:spPr>
          <a:xfrm>
            <a:off x="502920" y="5486400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Aptos" panose="020B0004020202020204" pitchFamily="34" charset="0"/>
              </a:rPr>
              <a:t>OpenAI-compatible planning LLM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172A09E-2A0D-BF79-3A3B-0B8288FA06A2}"/>
              </a:ext>
            </a:extLst>
          </p:cNvPr>
          <p:cNvSpPr/>
          <p:nvPr/>
        </p:nvSpPr>
        <p:spPr>
          <a:xfrm>
            <a:off x="3182112" y="5486400"/>
            <a:ext cx="1938528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F5A76F-4F46-4B81-37EA-6974A7E3BC60}"/>
              </a:ext>
            </a:extLst>
          </p:cNvPr>
          <p:cNvSpPr txBox="1"/>
          <p:nvPr/>
        </p:nvSpPr>
        <p:spPr>
          <a:xfrm>
            <a:off x="3182112" y="5486400"/>
            <a:ext cx="19385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JSON file project store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5B92F7-DCEC-B9A2-0E21-9F51C6BEE537}"/>
              </a:ext>
            </a:extLst>
          </p:cNvPr>
          <p:cNvSpPr/>
          <p:nvPr/>
        </p:nvSpPr>
        <p:spPr>
          <a:xfrm>
            <a:off x="5312664" y="5486400"/>
            <a:ext cx="1481328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264D82-1D15-5118-0058-35549B4C6BC4}"/>
              </a:ext>
            </a:extLst>
          </p:cNvPr>
          <p:cNvSpPr txBox="1"/>
          <p:nvPr/>
        </p:nvSpPr>
        <p:spPr>
          <a:xfrm>
            <a:off x="5312664" y="5486400"/>
            <a:ext cx="1481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ffmpeg assembly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3354CE5-5533-0E3E-DE51-E37789758ED1}"/>
              </a:ext>
            </a:extLst>
          </p:cNvPr>
          <p:cNvSpPr/>
          <p:nvPr/>
        </p:nvSpPr>
        <p:spPr>
          <a:xfrm>
            <a:off x="6986016" y="5486400"/>
            <a:ext cx="1234440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99CDB0-0E7E-45DE-8AED-2AD1058074C2}"/>
              </a:ext>
            </a:extLst>
          </p:cNvPr>
          <p:cNvSpPr txBox="1"/>
          <p:nvPr/>
        </p:nvSpPr>
        <p:spPr>
          <a:xfrm>
            <a:off x="6986016" y="5486400"/>
            <a:ext cx="1234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Deepy assist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4FF7F75-D64A-111A-80CC-073D8089C6E0}"/>
              </a:ext>
            </a:extLst>
          </p:cNvPr>
          <p:cNvSpPr/>
          <p:nvPr/>
        </p:nvSpPr>
        <p:spPr>
          <a:xfrm>
            <a:off x="8412480" y="5486400"/>
            <a:ext cx="2578608" cy="329184"/>
          </a:xfrm>
          <a:prstGeom prst="roundRect">
            <a:avLst/>
          </a:prstGeom>
          <a:solidFill>
            <a:srgbClr val="0C342B"/>
          </a:solidFill>
          <a:ln w="952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662F36-AAEB-491D-EB34-6E53C4CBE662}"/>
              </a:ext>
            </a:extLst>
          </p:cNvPr>
          <p:cNvSpPr txBox="1"/>
          <p:nvPr/>
        </p:nvSpPr>
        <p:spPr>
          <a:xfrm>
            <a:off x="8412480" y="5486400"/>
            <a:ext cx="257860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10B981"/>
                </a:solidFill>
                <a:latin typeface="Aptos" panose="020B0004020202020204" pitchFamily="34" charset="0"/>
              </a:rPr>
              <a:t>Deterministic mocks for demo/test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3EAE6E-13E3-B131-E149-F0B69ED46BA8}"/>
              </a:ext>
            </a:extLst>
          </p:cNvPr>
          <p:cNvSpPr txBox="1"/>
          <p:nvPr/>
        </p:nvSpPr>
        <p:spPr>
          <a:xfrm>
            <a:off x="1051560" y="598932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30">
                <a:solidFill>
                  <a:srgbClr val="A7B3C7"/>
                </a:solidFill>
                <a:latin typeface="Aptos" panose="020B0004020202020204" pitchFamily="34" charset="0"/>
              </a:rPr>
              <a:t>External systems are feature-gated behind swappable interfaces; live media generation requires a reachable Wan2GP MCP server.</a:t>
            </a:r>
          </a:p>
        </p:txBody>
      </p:sp>
    </p:spTree>
    <p:extLst>
      <p:ext uri="{BB962C8B-B14F-4D97-AF65-F5344CB8AC3E}">
        <p14:creationId xmlns:p14="http://schemas.microsoft.com/office/powerpoint/2010/main" val="91581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C79D93-0F29-71C3-9742-80D3EF633DA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78AE7-5033-1C70-2F40-B771B68844AA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31C28-587D-4373-418A-15A1C8EB72DA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6FA4E-1AEF-F2A4-EF37-E2F165A1B4DD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WAN2GP MCP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7197B7-68CF-9D71-A48A-6703CBCBD0A9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B15363-089F-6718-0F5D-443DB09FC1F6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BA521-FFD8-5E1E-707B-77DD07427419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3E9AF-967B-4590-6BC7-1BFBDE5AD326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5A49E-25E6-C7A6-B663-825C7FBC9C95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Prompts become model-valid jobs, not raw guesses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0D3B3-AF39-B3F8-0198-60D302F30199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StoryForge queries the backend that is actually installed, composes settings from its schema, and tracks every job through completion.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F487F4-D977-2AFA-BA3F-5F092DE5BAA4}"/>
              </a:ext>
            </a:extLst>
          </p:cNvPr>
          <p:cNvSpPr/>
          <p:nvPr/>
        </p:nvSpPr>
        <p:spPr>
          <a:xfrm>
            <a:off x="502920" y="2148840"/>
            <a:ext cx="493776" cy="493776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A24A52-A2C6-C5E8-7856-2ADD616B01FB}"/>
              </a:ext>
            </a:extLst>
          </p:cNvPr>
          <p:cNvSpPr txBox="1"/>
          <p:nvPr/>
        </p:nvSpPr>
        <p:spPr>
          <a:xfrm>
            <a:off x="502920" y="2148840"/>
            <a:ext cx="493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266350-3E5D-95FF-EF4B-6922AD6BDCAD}"/>
              </a:ext>
            </a:extLst>
          </p:cNvPr>
          <p:cNvSpPr txBox="1"/>
          <p:nvPr/>
        </p:nvSpPr>
        <p:spPr>
          <a:xfrm>
            <a:off x="1124712" y="2139696"/>
            <a:ext cx="1307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Discover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83F7F-B322-D49D-7FDB-07A1FE94D979}"/>
              </a:ext>
            </a:extLst>
          </p:cNvPr>
          <p:cNvSpPr txBox="1"/>
          <p:nvPr/>
        </p:nvSpPr>
        <p:spPr>
          <a:xfrm>
            <a:off x="1124712" y="24688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List installed image, video and audio models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BF9449-4E3E-F7F5-9B57-1C4F57E73850}"/>
              </a:ext>
            </a:extLst>
          </p:cNvPr>
          <p:cNvCxnSpPr/>
          <p:nvPr/>
        </p:nvCxnSpPr>
        <p:spPr>
          <a:xfrm>
            <a:off x="2459736" y="2395728"/>
            <a:ext cx="237744" cy="0"/>
          </a:xfrm>
          <a:prstGeom prst="line">
            <a:avLst/>
          </a:prstGeom>
          <a:ln w="1651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BB51809-E44A-08C6-8623-B0E9970B04C9}"/>
              </a:ext>
            </a:extLst>
          </p:cNvPr>
          <p:cNvSpPr/>
          <p:nvPr/>
        </p:nvSpPr>
        <p:spPr>
          <a:xfrm>
            <a:off x="2779776" y="2148840"/>
            <a:ext cx="493776" cy="493776"/>
          </a:xfrm>
          <a:prstGeom prst="ellipse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625C-182C-BB9B-3177-3F73851CA15E}"/>
              </a:ext>
            </a:extLst>
          </p:cNvPr>
          <p:cNvSpPr txBox="1"/>
          <p:nvPr/>
        </p:nvSpPr>
        <p:spPr>
          <a:xfrm>
            <a:off x="2779776" y="2148840"/>
            <a:ext cx="493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378D0F-2101-E86C-BF16-E627D7EC412B}"/>
              </a:ext>
            </a:extLst>
          </p:cNvPr>
          <p:cNvSpPr txBox="1"/>
          <p:nvPr/>
        </p:nvSpPr>
        <p:spPr>
          <a:xfrm>
            <a:off x="3401568" y="2139696"/>
            <a:ext cx="1307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Resolve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C09D6-3AC2-2F8B-F0C5-F0FD251E1D34}"/>
              </a:ext>
            </a:extLst>
          </p:cNvPr>
          <p:cNvSpPr txBox="1"/>
          <p:nvPr/>
        </p:nvSpPr>
        <p:spPr>
          <a:xfrm>
            <a:off x="3401568" y="24688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Honor pins or route by capability and family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B8049D-89CC-55FA-2EDB-E2F504DFDE0B}"/>
              </a:ext>
            </a:extLst>
          </p:cNvPr>
          <p:cNvCxnSpPr/>
          <p:nvPr/>
        </p:nvCxnSpPr>
        <p:spPr>
          <a:xfrm>
            <a:off x="4736592" y="2395728"/>
            <a:ext cx="237744" cy="0"/>
          </a:xfrm>
          <a:prstGeom prst="line">
            <a:avLst/>
          </a:prstGeom>
          <a:ln w="1651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B947FA3-6BFF-AE19-B5FA-CE00813F5CE9}"/>
              </a:ext>
            </a:extLst>
          </p:cNvPr>
          <p:cNvSpPr/>
          <p:nvPr/>
        </p:nvSpPr>
        <p:spPr>
          <a:xfrm>
            <a:off x="5056632" y="2148840"/>
            <a:ext cx="493776" cy="493776"/>
          </a:xfrm>
          <a:prstGeom prst="ellipse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99D22B-5454-C812-DF2B-2BABE45D458C}"/>
              </a:ext>
            </a:extLst>
          </p:cNvPr>
          <p:cNvSpPr txBox="1"/>
          <p:nvPr/>
        </p:nvSpPr>
        <p:spPr>
          <a:xfrm>
            <a:off x="5056632" y="2148840"/>
            <a:ext cx="493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7F8A9-D083-2DE1-3C7F-37049E005F82}"/>
              </a:ext>
            </a:extLst>
          </p:cNvPr>
          <p:cNvSpPr txBox="1"/>
          <p:nvPr/>
        </p:nvSpPr>
        <p:spPr>
          <a:xfrm>
            <a:off x="5678424" y="2139696"/>
            <a:ext cx="1307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Compose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668B77-7EF5-5F3E-24D0-5025E0C8E332}"/>
              </a:ext>
            </a:extLst>
          </p:cNvPr>
          <p:cNvSpPr txBox="1"/>
          <p:nvPr/>
        </p:nvSpPr>
        <p:spPr>
          <a:xfrm>
            <a:off x="5678424" y="24688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Merge schema defaults, prompts, LoRAs and refs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196FE2-B6EB-FDDE-884B-2659105E3935}"/>
              </a:ext>
            </a:extLst>
          </p:cNvPr>
          <p:cNvCxnSpPr/>
          <p:nvPr/>
        </p:nvCxnSpPr>
        <p:spPr>
          <a:xfrm>
            <a:off x="7013448" y="2395728"/>
            <a:ext cx="237744" cy="0"/>
          </a:xfrm>
          <a:prstGeom prst="line">
            <a:avLst/>
          </a:prstGeom>
          <a:ln w="1651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725D6B6-B5BC-5E6F-5673-6ADCF630510F}"/>
              </a:ext>
            </a:extLst>
          </p:cNvPr>
          <p:cNvSpPr/>
          <p:nvPr/>
        </p:nvSpPr>
        <p:spPr>
          <a:xfrm>
            <a:off x="7333488" y="2148840"/>
            <a:ext cx="493776" cy="493776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BC95F1-8BFF-E6A7-CC87-BD8AC6E1638C}"/>
              </a:ext>
            </a:extLst>
          </p:cNvPr>
          <p:cNvSpPr txBox="1"/>
          <p:nvPr/>
        </p:nvSpPr>
        <p:spPr>
          <a:xfrm>
            <a:off x="7333488" y="2148840"/>
            <a:ext cx="493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6851A-7F22-ADBB-A5F6-130A04B5E6B9}"/>
              </a:ext>
            </a:extLst>
          </p:cNvPr>
          <p:cNvSpPr txBox="1"/>
          <p:nvPr/>
        </p:nvSpPr>
        <p:spPr>
          <a:xfrm>
            <a:off x="7955280" y="2139696"/>
            <a:ext cx="1307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5034B1-7101-79BC-FB29-224545090E9B}"/>
              </a:ext>
            </a:extLst>
          </p:cNvPr>
          <p:cNvSpPr txBox="1"/>
          <p:nvPr/>
        </p:nvSpPr>
        <p:spPr>
          <a:xfrm>
            <a:off x="7955280" y="24688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Submit, poll and cancel through MCP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5BE6BC-000E-719D-DE12-14D7CC5F911C}"/>
              </a:ext>
            </a:extLst>
          </p:cNvPr>
          <p:cNvCxnSpPr/>
          <p:nvPr/>
        </p:nvCxnSpPr>
        <p:spPr>
          <a:xfrm>
            <a:off x="9290304" y="2395728"/>
            <a:ext cx="237744" cy="0"/>
          </a:xfrm>
          <a:prstGeom prst="line">
            <a:avLst/>
          </a:prstGeom>
          <a:ln w="1651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8C4B56A-1ED0-CF20-97F1-48F415C98F85}"/>
              </a:ext>
            </a:extLst>
          </p:cNvPr>
          <p:cNvSpPr/>
          <p:nvPr/>
        </p:nvSpPr>
        <p:spPr>
          <a:xfrm>
            <a:off x="9610344" y="2148840"/>
            <a:ext cx="493776" cy="493776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E0CE3C-EBDE-BFE5-F4EF-D5B50BA3B676}"/>
              </a:ext>
            </a:extLst>
          </p:cNvPr>
          <p:cNvSpPr txBox="1"/>
          <p:nvPr/>
        </p:nvSpPr>
        <p:spPr>
          <a:xfrm>
            <a:off x="9610344" y="2148840"/>
            <a:ext cx="49377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0B0F1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5B4FB1-B5C3-A2B6-BB86-1A305872903B}"/>
              </a:ext>
            </a:extLst>
          </p:cNvPr>
          <p:cNvSpPr txBox="1"/>
          <p:nvPr/>
        </p:nvSpPr>
        <p:spPr>
          <a:xfrm>
            <a:off x="10232136" y="2139696"/>
            <a:ext cx="13075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>
                <a:solidFill>
                  <a:srgbClr val="F8FAFC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1E592F-25BE-0405-D553-5D73F4F17F36}"/>
              </a:ext>
            </a:extLst>
          </p:cNvPr>
          <p:cNvSpPr txBox="1"/>
          <p:nvPr/>
        </p:nvSpPr>
        <p:spPr>
          <a:xfrm>
            <a:off x="10232136" y="24688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20">
                <a:solidFill>
                  <a:srgbClr val="A7B3C7"/>
                </a:solidFill>
                <a:latin typeface="Aptos" panose="020B0004020202020204" pitchFamily="34" charset="0"/>
              </a:rPr>
              <a:t>Store outputs as a scene attempt for review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C2C01B1-D2CE-5261-7F8C-DE2E392C52F4}"/>
              </a:ext>
            </a:extLst>
          </p:cNvPr>
          <p:cNvSpPr/>
          <p:nvPr/>
        </p:nvSpPr>
        <p:spPr>
          <a:xfrm>
            <a:off x="502920" y="3273552"/>
            <a:ext cx="5212080" cy="267004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174FE28-77A1-D173-1AD5-D891E33189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43" y="3310128"/>
            <a:ext cx="4155034" cy="2596896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6C42346-B02F-6FC4-2A28-546546B54E96}"/>
              </a:ext>
            </a:extLst>
          </p:cNvPr>
          <p:cNvSpPr/>
          <p:nvPr/>
        </p:nvSpPr>
        <p:spPr>
          <a:xfrm>
            <a:off x="6025896" y="3273552"/>
            <a:ext cx="5669280" cy="2670048"/>
          </a:xfrm>
          <a:prstGeom prst="roundRect">
            <a:avLst/>
          </a:prstGeom>
          <a:solidFill>
            <a:srgbClr val="131A26"/>
          </a:solidFill>
          <a:ln w="1143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D1DF41-855B-858F-5623-EFA552B6F8BB}"/>
              </a:ext>
            </a:extLst>
          </p:cNvPr>
          <p:cNvSpPr txBox="1"/>
          <p:nvPr/>
        </p:nvSpPr>
        <p:spPr>
          <a:xfrm>
            <a:off x="6272784" y="3511296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MODEL-ORDERED MEDIA PIPELINE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B690606-40C9-1C54-7ED2-16D46B05224A}"/>
              </a:ext>
            </a:extLst>
          </p:cNvPr>
          <p:cNvSpPr/>
          <p:nvPr/>
        </p:nvSpPr>
        <p:spPr>
          <a:xfrm>
            <a:off x="6272784" y="3986784"/>
            <a:ext cx="1024128" cy="50292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EF9A75-DEB8-D187-835A-173B74004EAD}"/>
              </a:ext>
            </a:extLst>
          </p:cNvPr>
          <p:cNvSpPr txBox="1"/>
          <p:nvPr/>
        </p:nvSpPr>
        <p:spPr>
          <a:xfrm>
            <a:off x="6272784" y="3986784"/>
            <a:ext cx="10241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818CF8"/>
                </a:solidFill>
                <a:latin typeface="Aptos" panose="020B0004020202020204" pitchFamily="34" charset="0"/>
              </a:rPr>
              <a:t>KEYFRAMES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0A2A98-7BD5-0078-DE8D-9730E7BD1C5C}"/>
              </a:ext>
            </a:extLst>
          </p:cNvPr>
          <p:cNvCxnSpPr/>
          <p:nvPr/>
        </p:nvCxnSpPr>
        <p:spPr>
          <a:xfrm>
            <a:off x="7315200" y="4238244"/>
            <a:ext cx="182880" cy="0"/>
          </a:xfrm>
          <a:prstGeom prst="line">
            <a:avLst/>
          </a:prstGeom>
          <a:ln w="1397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6974BA-4F6E-E4BB-0E89-3FFB4D78E0B6}"/>
              </a:ext>
            </a:extLst>
          </p:cNvPr>
          <p:cNvSpPr/>
          <p:nvPr/>
        </p:nvSpPr>
        <p:spPr>
          <a:xfrm>
            <a:off x="7552944" y="3986784"/>
            <a:ext cx="1024128" cy="50292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541B48-6E84-2712-DBEA-F1285046B248}"/>
              </a:ext>
            </a:extLst>
          </p:cNvPr>
          <p:cNvSpPr txBox="1"/>
          <p:nvPr/>
        </p:nvSpPr>
        <p:spPr>
          <a:xfrm>
            <a:off x="7552944" y="3986784"/>
            <a:ext cx="10241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38BDF8"/>
                </a:solidFill>
                <a:latin typeface="Aptos" panose="020B0004020202020204" pitchFamily="34" charset="0"/>
              </a:rPr>
              <a:t>FACE SWAP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0920372-4988-DF1D-AB7A-FB9CD0DA0529}"/>
              </a:ext>
            </a:extLst>
          </p:cNvPr>
          <p:cNvCxnSpPr/>
          <p:nvPr/>
        </p:nvCxnSpPr>
        <p:spPr>
          <a:xfrm>
            <a:off x="8595360" y="4238244"/>
            <a:ext cx="182880" cy="0"/>
          </a:xfrm>
          <a:prstGeom prst="line">
            <a:avLst/>
          </a:prstGeom>
          <a:ln w="1397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9500F2C-9C80-4C79-A98A-2DBBD31F3374}"/>
              </a:ext>
            </a:extLst>
          </p:cNvPr>
          <p:cNvSpPr/>
          <p:nvPr/>
        </p:nvSpPr>
        <p:spPr>
          <a:xfrm>
            <a:off x="8833104" y="3986784"/>
            <a:ext cx="1024128" cy="50292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7C3A5B-0941-4393-ADBD-B77416D97D88}"/>
              </a:ext>
            </a:extLst>
          </p:cNvPr>
          <p:cNvSpPr txBox="1"/>
          <p:nvPr/>
        </p:nvSpPr>
        <p:spPr>
          <a:xfrm>
            <a:off x="8833104" y="3986784"/>
            <a:ext cx="10241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F59E0B"/>
                </a:solidFill>
                <a:latin typeface="Aptos" panose="020B0004020202020204" pitchFamily="34" charset="0"/>
              </a:rPr>
              <a:t>VIDEO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050832-DC91-183F-5EAB-8C9D8F4D1B4D}"/>
              </a:ext>
            </a:extLst>
          </p:cNvPr>
          <p:cNvCxnSpPr/>
          <p:nvPr/>
        </p:nvCxnSpPr>
        <p:spPr>
          <a:xfrm>
            <a:off x="9875520" y="4238244"/>
            <a:ext cx="182880" cy="0"/>
          </a:xfrm>
          <a:prstGeom prst="line">
            <a:avLst/>
          </a:prstGeom>
          <a:ln w="1397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09CF651-185A-4F75-0AE2-D342927685F1}"/>
              </a:ext>
            </a:extLst>
          </p:cNvPr>
          <p:cNvSpPr/>
          <p:nvPr/>
        </p:nvSpPr>
        <p:spPr>
          <a:xfrm>
            <a:off x="10113264" y="3986784"/>
            <a:ext cx="1024128" cy="50292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C21DE8-AB5D-0B84-6EE7-3B523BB03A89}"/>
              </a:ext>
            </a:extLst>
          </p:cNvPr>
          <p:cNvSpPr txBox="1"/>
          <p:nvPr/>
        </p:nvSpPr>
        <p:spPr>
          <a:xfrm>
            <a:off x="10113264" y="3986784"/>
            <a:ext cx="10241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10B981"/>
                </a:solidFill>
                <a:latin typeface="Aptos" panose="020B0004020202020204" pitchFamily="34" charset="0"/>
              </a:rPr>
              <a:t>QC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038602-4070-5C43-49DF-B11091182677}"/>
              </a:ext>
            </a:extLst>
          </p:cNvPr>
          <p:cNvSpPr txBox="1"/>
          <p:nvPr/>
        </p:nvSpPr>
        <p:spPr>
          <a:xfrm>
            <a:off x="6272784" y="4809744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Why phase by model?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E8EDE5-2C71-6423-850F-8FE1AD8AA484}"/>
              </a:ext>
            </a:extLst>
          </p:cNvPr>
          <p:cNvSpPr txBox="1"/>
          <p:nvPr/>
        </p:nvSpPr>
        <p:spPr>
          <a:xfrm>
            <a:off x="6272784" y="5138928"/>
            <a:ext cx="49651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A7B3C7"/>
                </a:solidFill>
                <a:latin typeface="Aptos" panose="020B0004020202020204" pitchFamily="34" charset="0"/>
              </a:rPr>
              <a:t>Wan2GP holds one large model at a time. Grouping work avoids repeated image -&gt; edit -&gt; video reloads across scenes.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58561DF-FC21-6BAB-42FD-A1A14025DCA8}"/>
              </a:ext>
            </a:extLst>
          </p:cNvPr>
          <p:cNvSpPr/>
          <p:nvPr/>
        </p:nvSpPr>
        <p:spPr>
          <a:xfrm>
            <a:off x="6272784" y="5632704"/>
            <a:ext cx="1755648" cy="274320"/>
          </a:xfrm>
          <a:prstGeom prst="roundRect">
            <a:avLst/>
          </a:prstGeom>
          <a:solidFill>
            <a:srgbClr val="12344A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BE66FA-4CFF-AFCB-996B-A794CDCB2246}"/>
              </a:ext>
            </a:extLst>
          </p:cNvPr>
          <p:cNvSpPr txBox="1"/>
          <p:nvPr/>
        </p:nvSpPr>
        <p:spPr>
          <a:xfrm>
            <a:off x="6272784" y="5632704"/>
            <a:ext cx="175564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00" b="1">
                <a:solidFill>
                  <a:srgbClr val="38BDF8"/>
                </a:solidFill>
                <a:latin typeface="Aptos" panose="020B0004020202020204" pitchFamily="34" charset="0"/>
              </a:rPr>
              <a:t>NETWORK FAULT RETRIES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8492A78-0F11-BB0A-6278-068EF595B0EB}"/>
              </a:ext>
            </a:extLst>
          </p:cNvPr>
          <p:cNvSpPr/>
          <p:nvPr/>
        </p:nvSpPr>
        <p:spPr>
          <a:xfrm>
            <a:off x="8247888" y="5632704"/>
            <a:ext cx="2221992" cy="274320"/>
          </a:xfrm>
          <a:prstGeom prst="roundRect">
            <a:avLst/>
          </a:prstGeom>
          <a:solidFill>
            <a:srgbClr val="432A0B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E103C1-2801-AB26-C9DB-932C739686A6}"/>
              </a:ext>
            </a:extLst>
          </p:cNvPr>
          <p:cNvSpPr txBox="1"/>
          <p:nvPr/>
        </p:nvSpPr>
        <p:spPr>
          <a:xfrm>
            <a:off x="8247888" y="5632704"/>
            <a:ext cx="22219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800" b="1">
                <a:solidFill>
                  <a:srgbClr val="F59E0B"/>
                </a:solidFill>
                <a:latin typeface="Aptos" panose="020B0004020202020204" pitchFamily="34" charset="0"/>
              </a:rPr>
              <a:t>NO DOUBLE-SUBMIT ON GENERATE</a:t>
            </a:r>
          </a:p>
        </p:txBody>
      </p:sp>
    </p:spTree>
    <p:extLst>
      <p:ext uri="{BB962C8B-B14F-4D97-AF65-F5344CB8AC3E}">
        <p14:creationId xmlns:p14="http://schemas.microsoft.com/office/powerpoint/2010/main" val="420306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5E4432-D872-04C6-2066-9750AA1DE61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5723F-9935-2900-9FA6-5FA5C14850C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9075D-E646-681B-A726-2B624ABA14CD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4E7B3-4C69-AA94-CE57-F2AEA85EDCDF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CONTROL + GOVERNANCE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113B16-87CB-C18E-0A15-2BD741F3F945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11B1FD-C1D6-C3DC-63F1-79E6BBE58226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8FF52-9E9B-8D1F-AD27-703D66FC3859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DAF5F-3746-ABED-92A6-C73E18AF90CD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OPERATIONAL CONFIDENCE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2FE7B-7DDC-AC5D-F83F-4DC7930F628C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Consistency controls and human approval surround generation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16958-703B-D547-A1D2-E1C6A4BD0A7A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StoryForgeAI keeps creative context attached to the scene while preserving the operator's authority over what proceeds.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29015-6A16-7CF3-15B2-B95A6093EE9C}"/>
              </a:ext>
            </a:extLst>
          </p:cNvPr>
          <p:cNvSpPr txBox="1"/>
          <p:nvPr/>
        </p:nvSpPr>
        <p:spPr>
          <a:xfrm>
            <a:off x="502920" y="2011680"/>
            <a:ext cx="1645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CONSISTENCY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4B60E3-7B2A-B9A7-5607-6E8AAEE01408}"/>
              </a:ext>
            </a:extLst>
          </p:cNvPr>
          <p:cNvSpPr/>
          <p:nvPr/>
        </p:nvSpPr>
        <p:spPr>
          <a:xfrm>
            <a:off x="502920" y="2304288"/>
            <a:ext cx="3200400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0ED0C-BE5F-2CB6-DF08-099BBABC17AE}"/>
              </a:ext>
            </a:extLst>
          </p:cNvPr>
          <p:cNvSpPr/>
          <p:nvPr/>
        </p:nvSpPr>
        <p:spPr>
          <a:xfrm>
            <a:off x="502920" y="2304288"/>
            <a:ext cx="64008" cy="86868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510A15-3CC3-D2A1-4087-0A0D205E5031}"/>
              </a:ext>
            </a:extLst>
          </p:cNvPr>
          <p:cNvSpPr txBox="1"/>
          <p:nvPr/>
        </p:nvSpPr>
        <p:spPr>
          <a:xfrm>
            <a:off x="685800" y="2414016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Cast identity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5FC5F-3FF4-896B-0092-ADEAAD22AB38}"/>
              </a:ext>
            </a:extLst>
          </p:cNvPr>
          <p:cNvSpPr txBox="1"/>
          <p:nvPr/>
        </p:nvSpPr>
        <p:spPr>
          <a:xfrm>
            <a:off x="685800" y="2697480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Scene-scoped descriptions, references and optional face swap.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C5020B-E671-34FF-DB9C-A986190A36DF}"/>
              </a:ext>
            </a:extLst>
          </p:cNvPr>
          <p:cNvSpPr/>
          <p:nvPr/>
        </p:nvSpPr>
        <p:spPr>
          <a:xfrm>
            <a:off x="502920" y="3291840"/>
            <a:ext cx="3200400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0D031A-220C-46D1-32F1-EB9695D94B07}"/>
              </a:ext>
            </a:extLst>
          </p:cNvPr>
          <p:cNvSpPr/>
          <p:nvPr/>
        </p:nvSpPr>
        <p:spPr>
          <a:xfrm>
            <a:off x="502920" y="3291840"/>
            <a:ext cx="64008" cy="86868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83B8CE-784A-65EF-2542-240B4BD3FB48}"/>
              </a:ext>
            </a:extLst>
          </p:cNvPr>
          <p:cNvSpPr txBox="1"/>
          <p:nvPr/>
        </p:nvSpPr>
        <p:spPr>
          <a:xfrm>
            <a:off x="685800" y="3401568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Wardrobe timeline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1244BD-D4C5-7E5A-B5AA-C820A4DF3EB0}"/>
              </a:ext>
            </a:extLst>
          </p:cNvPr>
          <p:cNvSpPr txBox="1"/>
          <p:nvPr/>
        </p:nvSpPr>
        <p:spPr>
          <a:xfrm>
            <a:off x="685800" y="3685032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Changes carry forward across scenes instead of becoming a global lock.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196E55-7F4C-5370-AF5A-96F6227F4561}"/>
              </a:ext>
            </a:extLst>
          </p:cNvPr>
          <p:cNvSpPr/>
          <p:nvPr/>
        </p:nvSpPr>
        <p:spPr>
          <a:xfrm>
            <a:off x="502920" y="4279392"/>
            <a:ext cx="3200400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8DB9B1-B772-556D-B159-BD71B32A158C}"/>
              </a:ext>
            </a:extLst>
          </p:cNvPr>
          <p:cNvSpPr/>
          <p:nvPr/>
        </p:nvSpPr>
        <p:spPr>
          <a:xfrm>
            <a:off x="502920" y="4279392"/>
            <a:ext cx="64008" cy="86868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CE2233-F804-3970-E573-900233B73953}"/>
              </a:ext>
            </a:extLst>
          </p:cNvPr>
          <p:cNvSpPr txBox="1"/>
          <p:nvPr/>
        </p:nvSpPr>
        <p:spPr>
          <a:xfrm>
            <a:off x="685800" y="4389120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Frame continuity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A466F-7B7F-E761-93E4-E11454C2F3D2}"/>
              </a:ext>
            </a:extLst>
          </p:cNvPr>
          <p:cNvSpPr txBox="1"/>
          <p:nvPr/>
        </p:nvSpPr>
        <p:spPr>
          <a:xfrm>
            <a:off x="685800" y="4672584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Reuse an end frame, withhold its reference, cut, or continue a compatible clip.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B93C40-0FCC-8961-AB6A-7D4AC8D1005D}"/>
              </a:ext>
            </a:extLst>
          </p:cNvPr>
          <p:cNvSpPr/>
          <p:nvPr/>
        </p:nvSpPr>
        <p:spPr>
          <a:xfrm>
            <a:off x="502920" y="5266944"/>
            <a:ext cx="3200400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0F951D-F91C-49B5-D02F-07F2682BE98A}"/>
              </a:ext>
            </a:extLst>
          </p:cNvPr>
          <p:cNvSpPr/>
          <p:nvPr/>
        </p:nvSpPr>
        <p:spPr>
          <a:xfrm>
            <a:off x="502920" y="5266944"/>
            <a:ext cx="64008" cy="86868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77A695-4CEA-25CE-9110-7692F421216F}"/>
              </a:ext>
            </a:extLst>
          </p:cNvPr>
          <p:cNvSpPr txBox="1"/>
          <p:nvPr/>
        </p:nvSpPr>
        <p:spPr>
          <a:xfrm>
            <a:off x="685800" y="5376672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Model-aware prompting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A1A3B8-FE81-F006-538C-F868C32C2B37}"/>
              </a:ext>
            </a:extLst>
          </p:cNvPr>
          <p:cNvSpPr txBox="1"/>
          <p:nvPr/>
        </p:nvSpPr>
        <p:spPr>
          <a:xfrm>
            <a:off x="685800" y="5660136"/>
            <a:ext cx="28895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Family-specific instructions and exclusion routing survive backend differences.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B33973-E19D-7F2F-3932-F941600AFE13}"/>
              </a:ext>
            </a:extLst>
          </p:cNvPr>
          <p:cNvSpPr txBox="1"/>
          <p:nvPr/>
        </p:nvSpPr>
        <p:spPr>
          <a:xfrm>
            <a:off x="4014216" y="2011680"/>
            <a:ext cx="1645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CONTROL POINTS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B6F98E-540B-FB66-A885-C4A23B7EEE15}"/>
              </a:ext>
            </a:extLst>
          </p:cNvPr>
          <p:cNvSpPr/>
          <p:nvPr/>
        </p:nvSpPr>
        <p:spPr>
          <a:xfrm>
            <a:off x="4041648" y="2313432"/>
            <a:ext cx="393192" cy="393192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1D2A3A-89C0-5D2F-CDE1-D965586E6ED7}"/>
              </a:ext>
            </a:extLst>
          </p:cNvPr>
          <p:cNvSpPr txBox="1"/>
          <p:nvPr/>
        </p:nvSpPr>
        <p:spPr>
          <a:xfrm>
            <a:off x="4041648" y="2313432"/>
            <a:ext cx="3931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E92198-E0DF-3537-7022-266534CBF410}"/>
              </a:ext>
            </a:extLst>
          </p:cNvPr>
          <p:cNvSpPr txBox="1"/>
          <p:nvPr/>
        </p:nvSpPr>
        <p:spPr>
          <a:xfrm>
            <a:off x="4572000" y="230428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Choose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17BF0-B9BB-CC15-9DF1-B836D5BF3226}"/>
              </a:ext>
            </a:extLst>
          </p:cNvPr>
          <p:cNvSpPr txBox="1"/>
          <p:nvPr/>
        </p:nvSpPr>
        <p:spPr>
          <a:xfrm>
            <a:off x="4572000" y="2587752"/>
            <a:ext cx="188366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40">
                <a:solidFill>
                  <a:srgbClr val="A7B3C7"/>
                </a:solidFill>
                <a:latin typeface="Aptos" panose="020B0004020202020204" pitchFamily="34" charset="0"/>
              </a:rPr>
              <a:t>Select a variant, model pins and LoRA stack.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B01367-78FB-420B-F0FD-516DE9D17940}"/>
              </a:ext>
            </a:extLst>
          </p:cNvPr>
          <p:cNvSpPr/>
          <p:nvPr/>
        </p:nvSpPr>
        <p:spPr>
          <a:xfrm>
            <a:off x="4041648" y="3182112"/>
            <a:ext cx="393192" cy="393192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8B7B1-9D7D-EAD1-DA04-F87C799FFD14}"/>
              </a:ext>
            </a:extLst>
          </p:cNvPr>
          <p:cNvSpPr txBox="1"/>
          <p:nvPr/>
        </p:nvSpPr>
        <p:spPr>
          <a:xfrm>
            <a:off x="4041648" y="3182112"/>
            <a:ext cx="3931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B2266E-BBD9-FD9E-E2A4-FFAAD82A1BBC}"/>
              </a:ext>
            </a:extLst>
          </p:cNvPr>
          <p:cNvSpPr txBox="1"/>
          <p:nvPr/>
        </p:nvSpPr>
        <p:spPr>
          <a:xfrm>
            <a:off x="4572000" y="317296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Inspect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1C8C1-7F9F-D79B-1906-B0161EA319C9}"/>
              </a:ext>
            </a:extLst>
          </p:cNvPr>
          <p:cNvSpPr txBox="1"/>
          <p:nvPr/>
        </p:nvSpPr>
        <p:spPr>
          <a:xfrm>
            <a:off x="4572000" y="3456432"/>
            <a:ext cx="188366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40">
                <a:solidFill>
                  <a:srgbClr val="A7B3C7"/>
                </a:solidFill>
                <a:latin typeface="Aptos" panose="020B0004020202020204" pitchFamily="34" charset="0"/>
              </a:rPr>
              <a:t>Open agent artifacts, scene cards and exact prompts.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2E667C-8E5C-B51C-8C19-08AB9D855AF2}"/>
              </a:ext>
            </a:extLst>
          </p:cNvPr>
          <p:cNvSpPr/>
          <p:nvPr/>
        </p:nvSpPr>
        <p:spPr>
          <a:xfrm>
            <a:off x="4041648" y="4050792"/>
            <a:ext cx="393192" cy="393192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A05C12-43F7-F39E-CB6A-68AE5F56D6E0}"/>
              </a:ext>
            </a:extLst>
          </p:cNvPr>
          <p:cNvSpPr txBox="1"/>
          <p:nvPr/>
        </p:nvSpPr>
        <p:spPr>
          <a:xfrm>
            <a:off x="4041648" y="4050792"/>
            <a:ext cx="3931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095A5D-D81B-0327-F0F2-2F59CDD38EEC}"/>
              </a:ext>
            </a:extLst>
          </p:cNvPr>
          <p:cNvSpPr txBox="1"/>
          <p:nvPr/>
        </p:nvSpPr>
        <p:spPr>
          <a:xfrm>
            <a:off x="4572000" y="404164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Intervene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0FB7ED-1E5B-C0A0-3DD3-3B1F8EB8F860}"/>
              </a:ext>
            </a:extLst>
          </p:cNvPr>
          <p:cNvSpPr txBox="1"/>
          <p:nvPr/>
        </p:nvSpPr>
        <p:spPr>
          <a:xfrm>
            <a:off x="4572000" y="4325112"/>
            <a:ext cx="188366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40">
                <a:solidFill>
                  <a:srgbClr val="A7B3C7"/>
                </a:solidFill>
                <a:latin typeface="Aptos" panose="020B0004020202020204" pitchFamily="34" charset="0"/>
              </a:rPr>
              <a:t>Edit a card, import a keyframe or rerun one pass.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2F1F46-91ED-5BF3-B782-E3324446BBE7}"/>
              </a:ext>
            </a:extLst>
          </p:cNvPr>
          <p:cNvSpPr/>
          <p:nvPr/>
        </p:nvSpPr>
        <p:spPr>
          <a:xfrm>
            <a:off x="4041648" y="4919472"/>
            <a:ext cx="393192" cy="393192"/>
          </a:xfrm>
          <a:prstGeom prst="ellipse">
            <a:avLst/>
          </a:prstGeom>
          <a:solidFill>
            <a:srgbClr val="182131"/>
          </a:solidFill>
          <a:ln w="1270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450836-32DF-5B0E-3274-4899D25C36EB}"/>
              </a:ext>
            </a:extLst>
          </p:cNvPr>
          <p:cNvSpPr txBox="1"/>
          <p:nvPr/>
        </p:nvSpPr>
        <p:spPr>
          <a:xfrm>
            <a:off x="4041648" y="4919472"/>
            <a:ext cx="3931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818CF8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A2074B-6F63-4FCD-A341-B294DBDA285F}"/>
              </a:ext>
            </a:extLst>
          </p:cNvPr>
          <p:cNvSpPr txBox="1"/>
          <p:nvPr/>
        </p:nvSpPr>
        <p:spPr>
          <a:xfrm>
            <a:off x="4572000" y="491032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Approve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512D18-E136-96FC-7CC5-C838F27CDE62}"/>
              </a:ext>
            </a:extLst>
          </p:cNvPr>
          <p:cNvSpPr txBox="1"/>
          <p:nvPr/>
        </p:nvSpPr>
        <p:spPr>
          <a:xfrm>
            <a:off x="4572000" y="5193792"/>
            <a:ext cx="188366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40">
                <a:solidFill>
                  <a:srgbClr val="A7B3C7"/>
                </a:solidFill>
                <a:latin typeface="Aptos" panose="020B0004020202020204" pitchFamily="34" charset="0"/>
              </a:rPr>
              <a:t>Only an approved attempt can enter final assembly.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84708A6-67B0-FD2D-850B-7C44BDE0CD84}"/>
              </a:ext>
            </a:extLst>
          </p:cNvPr>
          <p:cNvSpPr/>
          <p:nvPr/>
        </p:nvSpPr>
        <p:spPr>
          <a:xfrm>
            <a:off x="4041648" y="5742432"/>
            <a:ext cx="2487167" cy="384048"/>
          </a:xfrm>
          <a:prstGeom prst="roundRect">
            <a:avLst/>
          </a:prstGeom>
          <a:solidFill>
            <a:srgbClr val="0C342B"/>
          </a:solidFill>
          <a:ln w="101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BDC92F-CE7B-7129-8464-1D29D91F4B61}"/>
              </a:ext>
            </a:extLst>
          </p:cNvPr>
          <p:cNvSpPr txBox="1"/>
          <p:nvPr/>
        </p:nvSpPr>
        <p:spPr>
          <a:xfrm>
            <a:off x="4041648" y="5742432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10B981"/>
                </a:solidFill>
                <a:latin typeface="Aptos" panose="020B0004020202020204" pitchFamily="34" charset="0"/>
              </a:rPr>
              <a:t>APPROVAL GATES ASSEMBLY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F862DE-5676-5590-E58D-DA70CDBF1EF6}"/>
              </a:ext>
            </a:extLst>
          </p:cNvPr>
          <p:cNvSpPr txBox="1"/>
          <p:nvPr/>
        </p:nvSpPr>
        <p:spPr>
          <a:xfrm>
            <a:off x="6858000" y="2011680"/>
            <a:ext cx="26517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EVIDENCE IN THE WORKSPACE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959C198-F13F-8DEE-2FEC-C7333273690A}"/>
              </a:ext>
            </a:extLst>
          </p:cNvPr>
          <p:cNvSpPr/>
          <p:nvPr/>
        </p:nvSpPr>
        <p:spPr>
          <a:xfrm>
            <a:off x="6858000" y="2304288"/>
            <a:ext cx="4837176" cy="3438144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4C82485-8740-5EEC-36A7-2540D60BEB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870" y="2340864"/>
            <a:ext cx="3177435" cy="336499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6E6FB99-9DBD-D2FD-CF43-7303F16F3909}"/>
              </a:ext>
            </a:extLst>
          </p:cNvPr>
          <p:cNvSpPr txBox="1"/>
          <p:nvPr/>
        </p:nvSpPr>
        <p:spPr>
          <a:xfrm>
            <a:off x="7022592" y="5916168"/>
            <a:ext cx="45079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Approved clips -&gt; rough cut -&gt; export package</a:t>
            </a:r>
          </a:p>
        </p:txBody>
      </p:sp>
    </p:spTree>
    <p:extLst>
      <p:ext uri="{BB962C8B-B14F-4D97-AF65-F5344CB8AC3E}">
        <p14:creationId xmlns:p14="http://schemas.microsoft.com/office/powerpoint/2010/main" val="5200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Custom</PresentationFormat>
  <Paragraphs>246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StoryForgeAI</dc:creator>
  <cp:lastModifiedBy>StoryForgeAI</cp:lastModifiedBy>
  <cp:revision>1</cp:revision>
  <dcterms:created xsi:type="dcterms:W3CDTF">2026-09-02T13:30:32Z</dcterms:created>
  <dcterms:modified xsi:type="dcterms:W3CDTF">2026-09-02T13:30:32Z</dcterms:modified>
</cp:coreProperties>
</file>